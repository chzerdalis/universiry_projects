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1"/>
  </p:notesMasterIdLst>
  <p:sldIdLst>
    <p:sldId id="263" r:id="rId5"/>
    <p:sldId id="266" r:id="rId6"/>
    <p:sldId id="267" r:id="rId7"/>
    <p:sldId id="264" r:id="rId8"/>
    <p:sldId id="265" r:id="rId9"/>
    <p:sldId id="259" r:id="rId10"/>
    <p:sldId id="256" r:id="rId11"/>
    <p:sldId id="262" r:id="rId12"/>
    <p:sldId id="257" r:id="rId13"/>
    <p:sldId id="260" r:id="rId14"/>
    <p:sldId id="261" r:id="rId15"/>
    <p:sldId id="268" r:id="rId16"/>
    <p:sldId id="273" r:id="rId17"/>
    <p:sldId id="270" r:id="rId18"/>
    <p:sldId id="271" r:id="rId19"/>
    <p:sldId id="27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4B6B3F-5153-4B42-8C6E-AB58FD221FC0}" v="458" dt="2025-01-14T17:51:04.027"/>
    <p1510:client id="{544D5FE9-E234-4F72-82A3-0C83997A07BD}" v="1318" dt="2025-01-14T17:50:17.855"/>
  </p1510:revLst>
</p1510:revInfo>
</file>

<file path=ppt/tableStyles.xml><?xml version="1.0" encoding="utf-8"?>
<a:tblStyleLst xmlns:a="http://schemas.openxmlformats.org/drawingml/2006/main" def="{5C22544A-7EE6-4342-B048-85BDC9FD1C3A}">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934" y="6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935;&#961;&#953;&#963;&#964;&#972;&#948;&#959;&#965;&#955;&#959;&#962;\Desktop\ML%20project\methods%20performanc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935;&#961;&#953;&#963;&#964;&#972;&#948;&#959;&#965;&#955;&#959;&#962;\Desktop\ML%20project\methods%20performanc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935;&#961;&#953;&#963;&#964;&#972;&#948;&#959;&#965;&#955;&#959;&#962;\Desktop\ML%20project\methods%20performance.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l-G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Sheet1!$A$2</c:f>
              <c:strCache>
                <c:ptCount val="1"/>
                <c:pt idx="0">
                  <c:v>RMSE</c:v>
                </c:pt>
              </c:strCache>
            </c:strRef>
          </c:tx>
          <c:spPr>
            <a:solidFill>
              <a:schemeClr val="accent1"/>
            </a:solidFill>
            <a:ln>
              <a:noFill/>
            </a:ln>
            <a:effectLst/>
          </c:spPr>
          <c:invertIfNegative val="0"/>
          <c:cat>
            <c:strRef>
              <c:f>Sheet1!$B$1:$G$1</c:f>
              <c:strCache>
                <c:ptCount val="6"/>
                <c:pt idx="0">
                  <c:v>GBM</c:v>
                </c:pt>
                <c:pt idx="1">
                  <c:v>XGBOOST</c:v>
                </c:pt>
                <c:pt idx="2">
                  <c:v>GRU</c:v>
                </c:pt>
                <c:pt idx="3">
                  <c:v>TRANSFORMERS</c:v>
                </c:pt>
                <c:pt idx="4">
                  <c:v>LSTM</c:v>
                </c:pt>
                <c:pt idx="5">
                  <c:v>CNN</c:v>
                </c:pt>
              </c:strCache>
            </c:strRef>
          </c:cat>
          <c:val>
            <c:numRef>
              <c:f>Sheet1!$B$2:$G$2</c:f>
              <c:numCache>
                <c:formatCode>0.00</c:formatCode>
                <c:ptCount val="6"/>
                <c:pt idx="0">
                  <c:v>8.1534934496118296</c:v>
                </c:pt>
                <c:pt idx="1">
                  <c:v>10.639131481552701</c:v>
                </c:pt>
                <c:pt idx="2">
                  <c:v>9.6987000000000005</c:v>
                </c:pt>
                <c:pt idx="3">
                  <c:v>10.050000000000001</c:v>
                </c:pt>
                <c:pt idx="4">
                  <c:v>9.6667000000000005</c:v>
                </c:pt>
                <c:pt idx="5">
                  <c:v>13.03</c:v>
                </c:pt>
              </c:numCache>
            </c:numRef>
          </c:val>
          <c:extLst>
            <c:ext xmlns:c16="http://schemas.microsoft.com/office/drawing/2014/chart" uri="{C3380CC4-5D6E-409C-BE32-E72D297353CC}">
              <c16:uniqueId val="{00000000-4BA4-41F6-BD47-9A7A8834AFA2}"/>
            </c:ext>
          </c:extLst>
        </c:ser>
        <c:ser>
          <c:idx val="1"/>
          <c:order val="1"/>
          <c:tx>
            <c:strRef>
              <c:f>Sheet1!$A$3</c:f>
              <c:strCache>
                <c:ptCount val="1"/>
                <c:pt idx="0">
                  <c:v>MAE</c:v>
                </c:pt>
              </c:strCache>
            </c:strRef>
          </c:tx>
          <c:spPr>
            <a:solidFill>
              <a:schemeClr val="accent2"/>
            </a:solidFill>
            <a:ln>
              <a:noFill/>
            </a:ln>
            <a:effectLst/>
          </c:spPr>
          <c:invertIfNegative val="0"/>
          <c:cat>
            <c:strRef>
              <c:f>Sheet1!$B$1:$G$1</c:f>
              <c:strCache>
                <c:ptCount val="6"/>
                <c:pt idx="0">
                  <c:v>GBM</c:v>
                </c:pt>
                <c:pt idx="1">
                  <c:v>XGBOOST</c:v>
                </c:pt>
                <c:pt idx="2">
                  <c:v>GRU</c:v>
                </c:pt>
                <c:pt idx="3">
                  <c:v>TRANSFORMERS</c:v>
                </c:pt>
                <c:pt idx="4">
                  <c:v>LSTM</c:v>
                </c:pt>
                <c:pt idx="5">
                  <c:v>CNN</c:v>
                </c:pt>
              </c:strCache>
            </c:strRef>
          </c:cat>
          <c:val>
            <c:numRef>
              <c:f>Sheet1!$B$3:$G$3</c:f>
              <c:numCache>
                <c:formatCode>0.00</c:formatCode>
                <c:ptCount val="6"/>
                <c:pt idx="0">
                  <c:v>4.32164189463351</c:v>
                </c:pt>
                <c:pt idx="1">
                  <c:v>7.1694652361747497</c:v>
                </c:pt>
                <c:pt idx="2">
                  <c:v>7.6837999999999997</c:v>
                </c:pt>
                <c:pt idx="3">
                  <c:v>8.4600000000000009</c:v>
                </c:pt>
                <c:pt idx="4">
                  <c:v>7.7911999999999999</c:v>
                </c:pt>
                <c:pt idx="5">
                  <c:v>10.196999999999999</c:v>
                </c:pt>
              </c:numCache>
            </c:numRef>
          </c:val>
          <c:extLst>
            <c:ext xmlns:c16="http://schemas.microsoft.com/office/drawing/2014/chart" uri="{C3380CC4-5D6E-409C-BE32-E72D297353CC}">
              <c16:uniqueId val="{00000001-4BA4-41F6-BD47-9A7A8834AFA2}"/>
            </c:ext>
          </c:extLst>
        </c:ser>
        <c:ser>
          <c:idx val="2"/>
          <c:order val="2"/>
          <c:tx>
            <c:strRef>
              <c:f>Sheet1!$A$4</c:f>
              <c:strCache>
                <c:ptCount val="1"/>
                <c:pt idx="0">
                  <c:v>MAPE</c:v>
                </c:pt>
              </c:strCache>
            </c:strRef>
          </c:tx>
          <c:spPr>
            <a:solidFill>
              <a:schemeClr val="accent3"/>
            </a:solidFill>
            <a:ln>
              <a:noFill/>
            </a:ln>
            <a:effectLst/>
          </c:spPr>
          <c:invertIfNegative val="0"/>
          <c:cat>
            <c:strRef>
              <c:f>Sheet1!$B$1:$G$1</c:f>
              <c:strCache>
                <c:ptCount val="6"/>
                <c:pt idx="0">
                  <c:v>GBM</c:v>
                </c:pt>
                <c:pt idx="1">
                  <c:v>XGBOOST</c:v>
                </c:pt>
                <c:pt idx="2">
                  <c:v>GRU</c:v>
                </c:pt>
                <c:pt idx="3">
                  <c:v>TRANSFORMERS</c:v>
                </c:pt>
                <c:pt idx="4">
                  <c:v>LSTM</c:v>
                </c:pt>
                <c:pt idx="5">
                  <c:v>CNN</c:v>
                </c:pt>
              </c:strCache>
            </c:strRef>
          </c:cat>
          <c:val>
            <c:numRef>
              <c:f>Sheet1!$B$4:$G$4</c:f>
              <c:numCache>
                <c:formatCode>0.00</c:formatCode>
                <c:ptCount val="6"/>
                <c:pt idx="0">
                  <c:v>8.2158868852933793</c:v>
                </c:pt>
                <c:pt idx="1">
                  <c:v>14.858014428135199</c:v>
                </c:pt>
                <c:pt idx="2">
                  <c:v>16.48</c:v>
                </c:pt>
                <c:pt idx="3">
                  <c:v>16.34</c:v>
                </c:pt>
                <c:pt idx="4">
                  <c:v>14.67</c:v>
                </c:pt>
                <c:pt idx="5">
                  <c:v>22.41</c:v>
                </c:pt>
              </c:numCache>
            </c:numRef>
          </c:val>
          <c:extLst>
            <c:ext xmlns:c16="http://schemas.microsoft.com/office/drawing/2014/chart" uri="{C3380CC4-5D6E-409C-BE32-E72D297353CC}">
              <c16:uniqueId val="{00000002-4BA4-41F6-BD47-9A7A8834AFA2}"/>
            </c:ext>
          </c:extLst>
        </c:ser>
        <c:ser>
          <c:idx val="3"/>
          <c:order val="3"/>
          <c:tx>
            <c:strRef>
              <c:f>Sheet1!$A$5</c:f>
              <c:strCache>
                <c:ptCount val="1"/>
                <c:pt idx="0">
                  <c:v>R^2</c:v>
                </c:pt>
              </c:strCache>
            </c:strRef>
          </c:tx>
          <c:spPr>
            <a:solidFill>
              <a:schemeClr val="accent4"/>
            </a:solidFill>
            <a:ln>
              <a:noFill/>
            </a:ln>
            <a:effectLst/>
          </c:spPr>
          <c:invertIfNegative val="0"/>
          <c:cat>
            <c:strRef>
              <c:f>Sheet1!$B$1:$G$1</c:f>
              <c:strCache>
                <c:ptCount val="6"/>
                <c:pt idx="0">
                  <c:v>GBM</c:v>
                </c:pt>
                <c:pt idx="1">
                  <c:v>XGBOOST</c:v>
                </c:pt>
                <c:pt idx="2">
                  <c:v>GRU</c:v>
                </c:pt>
                <c:pt idx="3">
                  <c:v>TRANSFORMERS</c:v>
                </c:pt>
                <c:pt idx="4">
                  <c:v>LSTM</c:v>
                </c:pt>
                <c:pt idx="5">
                  <c:v>CNN</c:v>
                </c:pt>
              </c:strCache>
            </c:strRef>
          </c:cat>
          <c:val>
            <c:numRef>
              <c:f>Sheet1!$B$5:$G$5</c:f>
              <c:numCache>
                <c:formatCode>0.00</c:formatCode>
                <c:ptCount val="6"/>
                <c:pt idx="0">
                  <c:v>0.44745764091046503</c:v>
                </c:pt>
                <c:pt idx="1">
                  <c:v>5.9214800464668003E-2</c:v>
                </c:pt>
                <c:pt idx="2">
                  <c:v>-2.5600000000000001E-2</c:v>
                </c:pt>
                <c:pt idx="3">
                  <c:v>-4.0000000000000001E-3</c:v>
                </c:pt>
                <c:pt idx="4">
                  <c:v>-0.30719999999999997</c:v>
                </c:pt>
                <c:pt idx="5">
                  <c:v>-0.253941779136657</c:v>
                </c:pt>
              </c:numCache>
            </c:numRef>
          </c:val>
          <c:extLst>
            <c:ext xmlns:c16="http://schemas.microsoft.com/office/drawing/2014/chart" uri="{C3380CC4-5D6E-409C-BE32-E72D297353CC}">
              <c16:uniqueId val="{00000003-4BA4-41F6-BD47-9A7A8834AFA2}"/>
            </c:ext>
          </c:extLst>
        </c:ser>
        <c:dLbls>
          <c:showLegendKey val="0"/>
          <c:showVal val="0"/>
          <c:showCatName val="0"/>
          <c:showSerName val="0"/>
          <c:showPercent val="0"/>
          <c:showBubbleSize val="0"/>
        </c:dLbls>
        <c:gapWidth val="219"/>
        <c:overlap val="-27"/>
        <c:axId val="1734434527"/>
        <c:axId val="1734426847"/>
      </c:barChart>
      <c:catAx>
        <c:axId val="17344345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en-US"/>
          </a:p>
        </c:txPr>
        <c:crossAx val="1734426847"/>
        <c:crosses val="autoZero"/>
        <c:auto val="1"/>
        <c:lblAlgn val="ctr"/>
        <c:lblOffset val="100"/>
        <c:noMultiLvlLbl val="0"/>
      </c:catAx>
      <c:valAx>
        <c:axId val="173442684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en-US"/>
          </a:p>
        </c:txPr>
        <c:crossAx val="1734434527"/>
        <c:crosses val="autoZero"/>
        <c:crossBetween val="between"/>
      </c:valAx>
      <c:spPr>
        <a:noFill/>
        <a:ln>
          <a:noFill/>
        </a:ln>
        <a:effectLst/>
      </c:spPr>
    </c:plotArea>
    <c:legend>
      <c:legendPos val="b"/>
      <c:layout>
        <c:manualLayout>
          <c:xMode val="edge"/>
          <c:yMode val="edge"/>
          <c:x val="0.27724087890314064"/>
          <c:y val="4.2569708980864538E-3"/>
          <c:w val="0.41866780156454381"/>
          <c:h val="8.0744057217658552E-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en-US"/>
        </a:p>
      </c:txPr>
    </c:legend>
    <c:plotVisOnly val="1"/>
    <c:dispBlanksAs val="gap"/>
    <c:showDLblsOverMax val="0"/>
  </c:chart>
  <c:spPr>
    <a:noFill/>
    <a:ln>
      <a:noFill/>
    </a:ln>
    <a:effectLst/>
  </c:spPr>
  <c:txPr>
    <a:bodyPr/>
    <a:lstStyle/>
    <a:p>
      <a:pPr>
        <a:defRPr b="1">
          <a:latin typeface="Tahoma" panose="020B0604030504040204" pitchFamily="34" charset="0"/>
          <a:ea typeface="Tahoma" panose="020B0604030504040204" pitchFamily="34" charset="0"/>
          <a:cs typeface="Tahoma" panose="020B060403050404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l-G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586682658737216"/>
          <c:y val="0.15744529142405903"/>
          <c:w val="0.63365440130927042"/>
          <c:h val="0.48916647914234956"/>
        </c:manualLayout>
      </c:layout>
      <c:barChart>
        <c:barDir val="col"/>
        <c:grouping val="clustered"/>
        <c:varyColors val="0"/>
        <c:ser>
          <c:idx val="0"/>
          <c:order val="0"/>
          <c:tx>
            <c:strRef>
              <c:f>Sheet1!$A$6</c:f>
              <c:strCache>
                <c:ptCount val="1"/>
                <c:pt idx="0">
                  <c:v>Total_time</c:v>
                </c:pt>
              </c:strCache>
            </c:strRef>
          </c:tx>
          <c:spPr>
            <a:solidFill>
              <a:schemeClr val="accent1"/>
            </a:solidFill>
            <a:ln>
              <a:noFill/>
            </a:ln>
            <a:effectLst/>
          </c:spPr>
          <c:invertIfNegative val="0"/>
          <c:cat>
            <c:strRef>
              <c:f>Sheet1!$B$1:$G$1</c:f>
              <c:strCache>
                <c:ptCount val="6"/>
                <c:pt idx="0">
                  <c:v>GBM</c:v>
                </c:pt>
                <c:pt idx="1">
                  <c:v>XGBOOST</c:v>
                </c:pt>
                <c:pt idx="2">
                  <c:v>GRU</c:v>
                </c:pt>
                <c:pt idx="3">
                  <c:v>TRANSFORMERS</c:v>
                </c:pt>
                <c:pt idx="4">
                  <c:v>LSTM</c:v>
                </c:pt>
                <c:pt idx="5">
                  <c:v>CNN</c:v>
                </c:pt>
              </c:strCache>
            </c:strRef>
          </c:cat>
          <c:val>
            <c:numRef>
              <c:f>Sheet1!$B$6:$G$6</c:f>
              <c:numCache>
                <c:formatCode>0.00</c:formatCode>
                <c:ptCount val="6"/>
                <c:pt idx="0">
                  <c:v>0.24077580000000001</c:v>
                </c:pt>
                <c:pt idx="1">
                  <c:v>0.27013229999999999</c:v>
                </c:pt>
                <c:pt idx="2">
                  <c:v>0</c:v>
                </c:pt>
                <c:pt idx="3">
                  <c:v>0</c:v>
                </c:pt>
                <c:pt idx="4">
                  <c:v>0</c:v>
                </c:pt>
                <c:pt idx="5">
                  <c:v>0</c:v>
                </c:pt>
              </c:numCache>
            </c:numRef>
          </c:val>
          <c:extLst>
            <c:ext xmlns:c16="http://schemas.microsoft.com/office/drawing/2014/chart" uri="{C3380CC4-5D6E-409C-BE32-E72D297353CC}">
              <c16:uniqueId val="{00000000-98D9-498B-B1A8-9CF088EC4ADD}"/>
            </c:ext>
          </c:extLst>
        </c:ser>
        <c:ser>
          <c:idx val="1"/>
          <c:order val="1"/>
          <c:tx>
            <c:strRef>
              <c:f>Sheet1!$A$7</c:f>
              <c:strCache>
                <c:ptCount val="1"/>
                <c:pt idx="0">
                  <c:v>s/epoch</c:v>
                </c:pt>
              </c:strCache>
            </c:strRef>
          </c:tx>
          <c:spPr>
            <a:solidFill>
              <a:schemeClr val="accent2"/>
            </a:solidFill>
            <a:ln>
              <a:noFill/>
            </a:ln>
            <a:effectLst/>
          </c:spPr>
          <c:invertIfNegative val="0"/>
          <c:cat>
            <c:strRef>
              <c:f>Sheet1!$B$1:$G$1</c:f>
              <c:strCache>
                <c:ptCount val="6"/>
                <c:pt idx="0">
                  <c:v>GBM</c:v>
                </c:pt>
                <c:pt idx="1">
                  <c:v>XGBOOST</c:v>
                </c:pt>
                <c:pt idx="2">
                  <c:v>GRU</c:v>
                </c:pt>
                <c:pt idx="3">
                  <c:v>TRANSFORMERS</c:v>
                </c:pt>
                <c:pt idx="4">
                  <c:v>LSTM</c:v>
                </c:pt>
                <c:pt idx="5">
                  <c:v>CNN</c:v>
                </c:pt>
              </c:strCache>
            </c:strRef>
          </c:cat>
          <c:val>
            <c:numRef>
              <c:f>Sheet1!$B$7:$G$7</c:f>
              <c:numCache>
                <c:formatCode>0.00</c:formatCode>
                <c:ptCount val="6"/>
                <c:pt idx="0">
                  <c:v>0</c:v>
                </c:pt>
                <c:pt idx="1">
                  <c:v>0</c:v>
                </c:pt>
                <c:pt idx="2">
                  <c:v>0.21681740000000002</c:v>
                </c:pt>
                <c:pt idx="3">
                  <c:v>0.93615945000000012</c:v>
                </c:pt>
                <c:pt idx="4">
                  <c:v>0.2426876</c:v>
                </c:pt>
                <c:pt idx="5">
                  <c:v>0.38058800000000004</c:v>
                </c:pt>
              </c:numCache>
            </c:numRef>
          </c:val>
          <c:extLst>
            <c:ext xmlns:c16="http://schemas.microsoft.com/office/drawing/2014/chart" uri="{C3380CC4-5D6E-409C-BE32-E72D297353CC}">
              <c16:uniqueId val="{00000001-98D9-498B-B1A8-9CF088EC4ADD}"/>
            </c:ext>
          </c:extLst>
        </c:ser>
        <c:dLbls>
          <c:showLegendKey val="0"/>
          <c:showVal val="0"/>
          <c:showCatName val="0"/>
          <c:showSerName val="0"/>
          <c:showPercent val="0"/>
          <c:showBubbleSize val="0"/>
        </c:dLbls>
        <c:gapWidth val="219"/>
        <c:overlap val="-27"/>
        <c:axId val="1001666304"/>
        <c:axId val="1001667744"/>
      </c:barChart>
      <c:catAx>
        <c:axId val="1001666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el-GR"/>
          </a:p>
        </c:txPr>
        <c:crossAx val="1001667744"/>
        <c:crosses val="autoZero"/>
        <c:auto val="1"/>
        <c:lblAlgn val="ctr"/>
        <c:lblOffset val="100"/>
        <c:noMultiLvlLbl val="0"/>
      </c:catAx>
      <c:valAx>
        <c:axId val="10016677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r>
                  <a:rPr lang="en-US"/>
                  <a:t>Seconds</a:t>
                </a:r>
                <a:endParaRPr lang="el-G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el-GR"/>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el-GR"/>
          </a:p>
        </c:txPr>
        <c:crossAx val="1001666304"/>
        <c:crosses val="autoZero"/>
        <c:crossBetween val="between"/>
      </c:valAx>
      <c:spPr>
        <a:noFill/>
        <a:ln>
          <a:noFill/>
        </a:ln>
        <a:effectLst/>
      </c:spPr>
    </c:plotArea>
    <c:legend>
      <c:legendPos val="r"/>
      <c:layout>
        <c:manualLayout>
          <c:xMode val="edge"/>
          <c:yMode val="edge"/>
          <c:x val="0.28012684433751905"/>
          <c:y val="2.9008853527041283E-2"/>
          <c:w val="0.43892407475387663"/>
          <c:h val="0.13202187779525501"/>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el-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latin typeface="Tahoma" panose="020B0604030504040204" pitchFamily="34" charset="0"/>
          <a:ea typeface="Tahoma" panose="020B0604030504040204" pitchFamily="34" charset="0"/>
          <a:cs typeface="Tahoma" panose="020B0604030504040204" pitchFamily="34" charset="0"/>
        </a:defRPr>
      </a:pPr>
      <a:endParaRPr lang="el-G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l-G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049562554680666"/>
          <c:y val="0.10519122854243887"/>
          <c:w val="0.63411220472440943"/>
          <c:h val="0.57804763724462227"/>
        </c:manualLayout>
      </c:layout>
      <c:barChart>
        <c:barDir val="col"/>
        <c:grouping val="clustered"/>
        <c:varyColors val="0"/>
        <c:ser>
          <c:idx val="0"/>
          <c:order val="0"/>
          <c:tx>
            <c:strRef>
              <c:f>Sheet1!$A$8</c:f>
              <c:strCache>
                <c:ptCount val="1"/>
                <c:pt idx="0">
                  <c:v>Memory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pPr>
                <a:endParaRPr lang="el-G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GBM</c:v>
                </c:pt>
                <c:pt idx="1">
                  <c:v>XGBOOST</c:v>
                </c:pt>
                <c:pt idx="2">
                  <c:v>GRU</c:v>
                </c:pt>
                <c:pt idx="3">
                  <c:v>TRANSFORMERS</c:v>
                </c:pt>
                <c:pt idx="4">
                  <c:v>LSTM</c:v>
                </c:pt>
                <c:pt idx="5">
                  <c:v>CNN</c:v>
                </c:pt>
              </c:strCache>
            </c:strRef>
          </c:cat>
          <c:val>
            <c:numRef>
              <c:f>Sheet1!$B$8:$G$8</c:f>
              <c:numCache>
                <c:formatCode>0.00</c:formatCode>
                <c:ptCount val="6"/>
                <c:pt idx="0">
                  <c:v>197.333984375</c:v>
                </c:pt>
                <c:pt idx="1">
                  <c:v>87.78515625</c:v>
                </c:pt>
                <c:pt idx="2">
                  <c:v>7582.08203125</c:v>
                </c:pt>
                <c:pt idx="3">
                  <c:v>14370.0927734375</c:v>
                </c:pt>
                <c:pt idx="4">
                  <c:v>6437.259765625</c:v>
                </c:pt>
                <c:pt idx="5">
                  <c:v>5294.5341796875</c:v>
                </c:pt>
              </c:numCache>
            </c:numRef>
          </c:val>
          <c:extLst>
            <c:ext xmlns:c16="http://schemas.microsoft.com/office/drawing/2014/chart" uri="{C3380CC4-5D6E-409C-BE32-E72D297353CC}">
              <c16:uniqueId val="{00000000-548D-44AD-90B2-C87471E956BB}"/>
            </c:ext>
          </c:extLst>
        </c:ser>
        <c:dLbls>
          <c:dLblPos val="outEnd"/>
          <c:showLegendKey val="0"/>
          <c:showVal val="1"/>
          <c:showCatName val="0"/>
          <c:showSerName val="0"/>
          <c:showPercent val="0"/>
          <c:showBubbleSize val="0"/>
        </c:dLbls>
        <c:gapWidth val="219"/>
        <c:overlap val="-27"/>
        <c:axId val="999401808"/>
        <c:axId val="999399888"/>
      </c:barChart>
      <c:catAx>
        <c:axId val="999401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el-GR"/>
          </a:p>
        </c:txPr>
        <c:crossAx val="999399888"/>
        <c:crosses val="autoZero"/>
        <c:auto val="1"/>
        <c:lblAlgn val="ctr"/>
        <c:lblOffset val="100"/>
        <c:noMultiLvlLbl val="0"/>
      </c:catAx>
      <c:valAx>
        <c:axId val="9993998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r>
                  <a:rPr lang="en-US"/>
                  <a:t>KB</a:t>
                </a:r>
                <a:endParaRPr lang="el-G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el-GR"/>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el-GR"/>
          </a:p>
        </c:txPr>
        <c:crossAx val="999401808"/>
        <c:crosses val="autoZero"/>
        <c:crossBetween val="between"/>
      </c:valAx>
      <c:spPr>
        <a:noFill/>
        <a:ln>
          <a:noFill/>
        </a:ln>
        <a:effectLst/>
      </c:spPr>
    </c:plotArea>
    <c:legend>
      <c:legendPos val="r"/>
      <c:layout>
        <c:manualLayout>
          <c:xMode val="edge"/>
          <c:yMode val="edge"/>
          <c:x val="0.2968300524934383"/>
          <c:y val="3.5399822673340575E-2"/>
          <c:w val="0.1455100612423447"/>
          <c:h val="8.1407100919480765E-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el-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latin typeface="Tahoma" panose="020B0604030504040204" pitchFamily="34" charset="0"/>
          <a:ea typeface="Tahoma" panose="020B0604030504040204" pitchFamily="34" charset="0"/>
          <a:cs typeface="Tahoma" panose="020B0604030504040204" pitchFamily="34" charset="0"/>
        </a:defRPr>
      </a:pPr>
      <a:endParaRPr lang="el-G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64414D-0EE0-4A62-943B-11E503FB5B7A}" type="datetimeFigureOut">
              <a:rPr lang="el-GR" smtClean="0"/>
              <a:t>14/1/2025</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361784-C72C-4C1A-A4D1-D7B396A5069A}" type="slidenum">
              <a:rPr lang="el-GR" smtClean="0"/>
              <a:t>‹#›</a:t>
            </a:fld>
            <a:endParaRPr lang="el-GR"/>
          </a:p>
        </p:txBody>
      </p:sp>
    </p:spTree>
    <p:extLst>
      <p:ext uri="{BB962C8B-B14F-4D97-AF65-F5344CB8AC3E}">
        <p14:creationId xmlns:p14="http://schemas.microsoft.com/office/powerpoint/2010/main" val="1415239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a:p>
        </p:txBody>
      </p:sp>
      <p:sp>
        <p:nvSpPr>
          <p:cNvPr id="4" name="Θέση αριθμού διαφάνειας 3"/>
          <p:cNvSpPr>
            <a:spLocks noGrp="1"/>
          </p:cNvSpPr>
          <p:nvPr>
            <p:ph type="sldNum" sz="quarter" idx="5"/>
          </p:nvPr>
        </p:nvSpPr>
        <p:spPr/>
        <p:txBody>
          <a:bodyPr/>
          <a:lstStyle/>
          <a:p>
            <a:fld id="{49361784-C72C-4C1A-A4D1-D7B396A5069A}" type="slidenum">
              <a:rPr lang="el-GR" smtClean="0"/>
              <a:t>6</a:t>
            </a:fld>
            <a:endParaRPr lang="el-GR"/>
          </a:p>
        </p:txBody>
      </p:sp>
    </p:spTree>
    <p:extLst>
      <p:ext uri="{BB962C8B-B14F-4D97-AF65-F5344CB8AC3E}">
        <p14:creationId xmlns:p14="http://schemas.microsoft.com/office/powerpoint/2010/main" val="1607394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l-GR"/>
              <a:t>Κάντε κλικ για να επεξεργαστείτε τον τίτλο υποδείγματος</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a:t>1/14/2025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p:txBody>
          <a:bodyPr ancho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48A87A34-81AB-432B-8DAE-1953F412C126}" type="datetimeFigureOut">
              <a:rPr lang="en-US"/>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Content Placeholder 3"/>
          <p:cNvSpPr>
            <a:spLocks noGrp="1"/>
          </p:cNvSpPr>
          <p:nvPr>
            <p:ph sz="half" idx="2"/>
          </p:nvPr>
        </p:nvSpPr>
        <p:spPr>
          <a:xfrm>
            <a:off x="1447191" y="2824269"/>
            <a:ext cx="4645152" cy="2644457"/>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Content Placeholder 5"/>
          <p:cNvSpPr>
            <a:spLocks noGrp="1"/>
          </p:cNvSpPr>
          <p:nvPr>
            <p:ph sz="quarter" idx="4"/>
          </p:nvPr>
        </p:nvSpPr>
        <p:spPr>
          <a:xfrm>
            <a:off x="6412362" y="2821491"/>
            <a:ext cx="4645152" cy="2637371"/>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48A87A34-81AB-432B-8DAE-1953F412C126}" type="datetimeFigureOut">
              <a:rPr lang="en-US"/>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l-GR"/>
              <a:t>Κάντε κλικ για να επεξεργαστείτε τον τίτλο υποδείγματος</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l-GR"/>
              <a:t>Κάντε κλικ στο εικονίδιο για να προσθέσετε εικόνα</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a:pPr/>
              <a:t>1/14/2025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a:pPr/>
              <a:t>1/14/2025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4F6621CF-F493-40D5-98AE-24A9D3AD4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8" y="0"/>
            <a:ext cx="12194875" cy="495026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622A8838-9DAE-31C2-7AA2-1D864DB58A7E}"/>
              </a:ext>
            </a:extLst>
          </p:cNvPr>
          <p:cNvSpPr>
            <a:spLocks noGrp="1"/>
          </p:cNvSpPr>
          <p:nvPr>
            <p:ph type="ctrTitle"/>
          </p:nvPr>
        </p:nvSpPr>
        <p:spPr>
          <a:xfrm>
            <a:off x="5078896" y="643467"/>
            <a:ext cx="5975956" cy="4127545"/>
          </a:xfrm>
        </p:spPr>
        <p:txBody>
          <a:bodyPr anchor="ctr">
            <a:normAutofit/>
          </a:bodyPr>
          <a:lstStyle/>
          <a:p>
            <a:r>
              <a:rPr lang="en-US" sz="4800" b="1">
                <a:effectLst/>
                <a:latin typeface="Tahoma" panose="020B0604030504040204" pitchFamily="34" charset="0"/>
                <a:ea typeface="Tahoma" panose="020B0604030504040204" pitchFamily="34" charset="0"/>
                <a:cs typeface="Tahoma" panose="020B0604030504040204" pitchFamily="34" charset="0"/>
              </a:rPr>
              <a:t>Time Series Forecasting: Final Project PRESENTATION</a:t>
            </a:r>
            <a:endParaRPr lang="en-US" sz="4800" b="0">
              <a:effectLst/>
              <a:latin typeface="Tahoma" panose="020B0604030504040204" pitchFamily="34" charset="0"/>
              <a:ea typeface="Tahoma" panose="020B0604030504040204" pitchFamily="34" charset="0"/>
              <a:cs typeface="Tahoma" panose="020B0604030504040204" pitchFamily="34" charset="0"/>
            </a:endParaRPr>
          </a:p>
        </p:txBody>
      </p:sp>
      <p:sp>
        <p:nvSpPr>
          <p:cNvPr id="7" name="Rectangle 10">
            <a:extLst>
              <a:ext uri="{FF2B5EF4-FFF2-40B4-BE49-F238E27FC236}">
                <a16:creationId xmlns:a16="http://schemas.microsoft.com/office/drawing/2014/main" id="{CADEE02A-D296-42EA-88F5-7803F69CE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4950269"/>
            <a:ext cx="12191695" cy="1907732"/>
          </a:xfrm>
          <a:prstGeom prst="rect">
            <a:avLst/>
          </a:prstGeom>
          <a:solidFill>
            <a:schemeClr val="accent1"/>
          </a:soli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3" name="Υπότιτλος 2">
            <a:extLst>
              <a:ext uri="{FF2B5EF4-FFF2-40B4-BE49-F238E27FC236}">
                <a16:creationId xmlns:a16="http://schemas.microsoft.com/office/drawing/2014/main" id="{B9EB905D-2D06-9326-EF23-5BB9D68BDC00}"/>
              </a:ext>
            </a:extLst>
          </p:cNvPr>
          <p:cNvSpPr>
            <a:spLocks noGrp="1"/>
          </p:cNvSpPr>
          <p:nvPr>
            <p:ph type="subTitle" idx="1"/>
          </p:nvPr>
        </p:nvSpPr>
        <p:spPr>
          <a:xfrm>
            <a:off x="5078896" y="5118231"/>
            <a:ext cx="5975956" cy="977621"/>
          </a:xfrm>
        </p:spPr>
        <p:txBody>
          <a:bodyPr>
            <a:normAutofit/>
          </a:bodyPr>
          <a:lstStyle/>
          <a:p>
            <a:pPr>
              <a:lnSpc>
                <a:spcPct val="110000"/>
              </a:lnSpc>
            </a:pPr>
            <a:r>
              <a:rPr lang="en-US" sz="1300">
                <a:solidFill>
                  <a:srgbClr val="FFFFFF"/>
                </a:solidFill>
                <a:latin typeface="Tahoma" panose="020B0604030504040204" pitchFamily="34" charset="0"/>
                <a:ea typeface="Tahoma" panose="020B0604030504040204" pitchFamily="34" charset="0"/>
                <a:cs typeface="Tahoma" panose="020B0604030504040204" pitchFamily="34" charset="0"/>
              </a:rPr>
              <a:t>TEAM 13</a:t>
            </a:r>
            <a:endParaRPr lang="el-GR" sz="1300">
              <a:solidFill>
                <a:srgbClr val="FFFFFF"/>
              </a:solidFill>
              <a:latin typeface="Tahoma" panose="020B0604030504040204" pitchFamily="34" charset="0"/>
              <a:ea typeface="Tahoma" panose="020B0604030504040204" pitchFamily="34" charset="0"/>
              <a:cs typeface="Tahoma" panose="020B0604030504040204" pitchFamily="34" charset="0"/>
            </a:endParaRPr>
          </a:p>
          <a:p>
            <a:pPr>
              <a:lnSpc>
                <a:spcPct val="110000"/>
              </a:lnSpc>
            </a:pPr>
            <a:r>
              <a:rPr lang="el-GR" sz="1300">
                <a:solidFill>
                  <a:srgbClr val="FFFFFF"/>
                </a:solidFill>
                <a:latin typeface="Tahoma" panose="020B0604030504040204" pitchFamily="34" charset="0"/>
                <a:ea typeface="Tahoma" panose="020B0604030504040204" pitchFamily="34" charset="0"/>
                <a:cs typeface="Tahoma" panose="020B0604030504040204" pitchFamily="34" charset="0"/>
              </a:rPr>
              <a:t>ευαγγελος ΟΡΓανΤΖΟΓΛΟΥ             ΧαρΑλαμπος ΜΑΛΑΚΟΥΔΗς          Χριστοδουλος ΖΕΡΔΑΛης</a:t>
            </a:r>
          </a:p>
        </p:txBody>
      </p:sp>
      <p:pic>
        <p:nvPicPr>
          <p:cNvPr id="13" name="Picture 4" descr="Κλεψύδρα και ημερολόγιο">
            <a:extLst>
              <a:ext uri="{FF2B5EF4-FFF2-40B4-BE49-F238E27FC236}">
                <a16:creationId xmlns:a16="http://schemas.microsoft.com/office/drawing/2014/main" id="{A2915BC6-6678-82E5-8DC7-ACD0ACA44078}"/>
              </a:ext>
            </a:extLst>
          </p:cNvPr>
          <p:cNvPicPr>
            <a:picLocks noChangeAspect="1"/>
          </p:cNvPicPr>
          <p:nvPr/>
        </p:nvPicPr>
        <p:blipFill>
          <a:blip r:embed="rId2"/>
          <a:srcRect l="50169" r="4392" b="2"/>
          <a:stretch/>
        </p:blipFill>
        <p:spPr>
          <a:xfrm>
            <a:off x="3180" y="0"/>
            <a:ext cx="4651116" cy="6858000"/>
          </a:xfrm>
          <a:prstGeom prst="rect">
            <a:avLst/>
          </a:prstGeom>
        </p:spPr>
      </p:pic>
    </p:spTree>
    <p:extLst>
      <p:ext uri="{BB962C8B-B14F-4D97-AF65-F5344CB8AC3E}">
        <p14:creationId xmlns:p14="http://schemas.microsoft.com/office/powerpoint/2010/main" val="535661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C799BF4-1145-C8C9-A6B4-FC69AA6FD21F}"/>
              </a:ext>
            </a:extLst>
          </p:cNvPr>
          <p:cNvSpPr>
            <a:spLocks noGrp="1"/>
          </p:cNvSpPr>
          <p:nvPr>
            <p:ph type="title"/>
          </p:nvPr>
        </p:nvSpPr>
        <p:spPr>
          <a:xfrm>
            <a:off x="1451579" y="988653"/>
            <a:ext cx="9603275" cy="806004"/>
          </a:xfrm>
        </p:spPr>
        <p:txBody>
          <a:bodyPr>
            <a:normAutofit/>
          </a:bodyPr>
          <a:lstStyle/>
          <a:p>
            <a:pPr algn="ctr"/>
            <a:r>
              <a:rPr lang="en-US" sz="4000">
                <a:latin typeface="Tahoma" panose="020B0604030504040204" pitchFamily="34" charset="0"/>
                <a:ea typeface="Tahoma" panose="020B0604030504040204" pitchFamily="34" charset="0"/>
                <a:cs typeface="Tahoma" panose="020B0604030504040204" pitchFamily="34" charset="0"/>
              </a:rPr>
              <a:t>Project introduction</a:t>
            </a:r>
            <a:endParaRPr lang="el-GR" sz="4000">
              <a:latin typeface="Tahoma" panose="020B0604030504040204" pitchFamily="34" charset="0"/>
              <a:ea typeface="Tahoma" panose="020B0604030504040204" pitchFamily="34" charset="0"/>
              <a:cs typeface="Tahoma" panose="020B0604030504040204" pitchFamily="34" charset="0"/>
            </a:endParaRPr>
          </a:p>
        </p:txBody>
      </p:sp>
      <p:sp>
        <p:nvSpPr>
          <p:cNvPr id="3" name="Θέση περιεχομένου 2">
            <a:extLst>
              <a:ext uri="{FF2B5EF4-FFF2-40B4-BE49-F238E27FC236}">
                <a16:creationId xmlns:a16="http://schemas.microsoft.com/office/drawing/2014/main" id="{EF66A306-99FC-FEA0-24C9-C635DA69DB69}"/>
              </a:ext>
            </a:extLst>
          </p:cNvPr>
          <p:cNvSpPr>
            <a:spLocks noGrp="1"/>
          </p:cNvSpPr>
          <p:nvPr>
            <p:ph idx="1"/>
          </p:nvPr>
        </p:nvSpPr>
        <p:spPr/>
        <p:txBody>
          <a:bodyPr>
            <a:normAutofit/>
          </a:bodyPr>
          <a:lstStyle/>
          <a:p>
            <a:r>
              <a:rPr lang="en-US" sz="1800">
                <a:latin typeface="Tahoma" panose="020B0604030504040204" pitchFamily="34" charset="0"/>
                <a:ea typeface="Tahoma" panose="020B0604030504040204" pitchFamily="34" charset="0"/>
                <a:cs typeface="Tahoma" panose="020B0604030504040204" pitchFamily="34" charset="0"/>
              </a:rPr>
              <a:t>Predicting residential appliance energy use is crucial due to its impact on costs and carbon emissions. Appliances account for a significant portion of household energy consumption. Time series forecasting helps identify usage patterns based on daily routines and weather conditions. Leveraging historical data enables accurate predictions to enhance energy efficiency.</a:t>
            </a:r>
          </a:p>
          <a:p>
            <a:pPr>
              <a:buFont typeface="Arial" panose="020B0604020202020204" pitchFamily="34" charset="0"/>
              <a:buChar char="•"/>
            </a:pPr>
            <a:r>
              <a:rPr lang="en-US" sz="1800">
                <a:latin typeface="Tahoma" panose="020B0604030504040204" pitchFamily="34" charset="0"/>
                <a:ea typeface="Tahoma" panose="020B0604030504040204" pitchFamily="34" charset="0"/>
                <a:cs typeface="Tahoma" panose="020B0604030504040204" pitchFamily="34" charset="0"/>
              </a:rPr>
              <a:t>High energy demand requires smarter energy management.</a:t>
            </a:r>
          </a:p>
          <a:p>
            <a:pPr>
              <a:buFont typeface="Arial" panose="020B0604020202020204" pitchFamily="34" charset="0"/>
              <a:buChar char="•"/>
            </a:pPr>
            <a:r>
              <a:rPr lang="en-US" sz="1800">
                <a:latin typeface="Tahoma" panose="020B0604030504040204" pitchFamily="34" charset="0"/>
                <a:ea typeface="Tahoma" panose="020B0604030504040204" pitchFamily="34" charset="0"/>
                <a:cs typeface="Tahoma" panose="020B0604030504040204" pitchFamily="34" charset="0"/>
              </a:rPr>
              <a:t>Appliance energy use impacts costs and environmental sustainability.</a:t>
            </a:r>
          </a:p>
          <a:p>
            <a:pPr>
              <a:buFont typeface="Arial" panose="020B0604020202020204" pitchFamily="34" charset="0"/>
              <a:buChar char="•"/>
            </a:pPr>
            <a:r>
              <a:rPr lang="en-US" sz="1800">
                <a:latin typeface="Tahoma" panose="020B0604030504040204" pitchFamily="34" charset="0"/>
                <a:ea typeface="Tahoma" panose="020B0604030504040204" pitchFamily="34" charset="0"/>
                <a:cs typeface="Tahoma" panose="020B0604030504040204" pitchFamily="34" charset="0"/>
              </a:rPr>
              <a:t>Forecasting uncovers trends to optimize energy consumption.</a:t>
            </a:r>
          </a:p>
          <a:p>
            <a:endParaRPr lang="el-GR"/>
          </a:p>
        </p:txBody>
      </p:sp>
    </p:spTree>
    <p:extLst>
      <p:ext uri="{BB962C8B-B14F-4D97-AF65-F5344CB8AC3E}">
        <p14:creationId xmlns:p14="http://schemas.microsoft.com/office/powerpoint/2010/main" val="3291647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583E647-C85E-B978-7ACD-5B0798A67E8D}"/>
              </a:ext>
            </a:extLst>
          </p:cNvPr>
          <p:cNvSpPr>
            <a:spLocks noGrp="1"/>
          </p:cNvSpPr>
          <p:nvPr>
            <p:ph type="title"/>
          </p:nvPr>
        </p:nvSpPr>
        <p:spPr>
          <a:xfrm>
            <a:off x="1451579" y="1000125"/>
            <a:ext cx="9603275" cy="625029"/>
          </a:xfrm>
        </p:spPr>
        <p:txBody>
          <a:bodyPr>
            <a:noAutofit/>
          </a:bodyPr>
          <a:lstStyle/>
          <a:p>
            <a:pPr algn="ctr"/>
            <a:r>
              <a:rPr lang="en-US" sz="4000">
                <a:latin typeface="Tahoma" panose="020B0604030504040204" pitchFamily="34" charset="0"/>
                <a:ea typeface="Tahoma" panose="020B0604030504040204" pitchFamily="34" charset="0"/>
                <a:cs typeface="Tahoma" panose="020B0604030504040204" pitchFamily="34" charset="0"/>
              </a:rPr>
              <a:t>PROJECT OBJECTIVES</a:t>
            </a:r>
            <a:endParaRPr lang="el-GR" sz="4000">
              <a:latin typeface="Tahoma" panose="020B0604030504040204" pitchFamily="34" charset="0"/>
              <a:ea typeface="Tahoma" panose="020B0604030504040204" pitchFamily="34" charset="0"/>
              <a:cs typeface="Tahoma" panose="020B0604030504040204" pitchFamily="34" charset="0"/>
            </a:endParaRPr>
          </a:p>
        </p:txBody>
      </p:sp>
      <p:sp>
        <p:nvSpPr>
          <p:cNvPr id="3" name="Θέση περιεχομένου 2">
            <a:extLst>
              <a:ext uri="{FF2B5EF4-FFF2-40B4-BE49-F238E27FC236}">
                <a16:creationId xmlns:a16="http://schemas.microsoft.com/office/drawing/2014/main" id="{4B03A030-158A-2296-C9F7-18BB8D39131B}"/>
              </a:ext>
            </a:extLst>
          </p:cNvPr>
          <p:cNvSpPr>
            <a:spLocks noGrp="1"/>
          </p:cNvSpPr>
          <p:nvPr>
            <p:ph idx="1"/>
          </p:nvPr>
        </p:nvSpPr>
        <p:spPr/>
        <p:txBody>
          <a:bodyPr>
            <a:normAutofit fontScale="85000" lnSpcReduction="10000"/>
          </a:bodyPr>
          <a:lstStyle/>
          <a:p>
            <a:r>
              <a:rPr lang="en-US" sz="2100">
                <a:latin typeface="Tahoma" panose="020B0604030504040204" pitchFamily="34" charset="0"/>
                <a:ea typeface="Tahoma" panose="020B0604030504040204" pitchFamily="34" charset="0"/>
                <a:cs typeface="Tahoma" panose="020B0604030504040204" pitchFamily="34" charset="0"/>
              </a:rPr>
              <a:t>The goal of this project is to predict household appliance energy consumption using sensor and weather data. Features like indoor temperature, humidity, and weather conditions are used to create accurate models for energy usage trends. These predictions aim to improve energy management in homes. Advanced techniques, including deep learning and transformers, are utilized to capture complex temporal patterns.</a:t>
            </a:r>
          </a:p>
          <a:p>
            <a:pPr>
              <a:buFont typeface="Arial" panose="020B0604020202020204" pitchFamily="34" charset="0"/>
              <a:buChar char="•"/>
            </a:pPr>
            <a:r>
              <a:rPr lang="en-US" sz="2100">
                <a:latin typeface="Tahoma" panose="020B0604030504040204" pitchFamily="34" charset="0"/>
                <a:ea typeface="Tahoma" panose="020B0604030504040204" pitchFamily="34" charset="0"/>
                <a:cs typeface="Tahoma" panose="020B0604030504040204" pitchFamily="34" charset="0"/>
              </a:rPr>
              <a:t>Predict energy consumption trends for better management.</a:t>
            </a:r>
          </a:p>
          <a:p>
            <a:pPr>
              <a:buFont typeface="Arial" panose="020B0604020202020204" pitchFamily="34" charset="0"/>
              <a:buChar char="•"/>
            </a:pPr>
            <a:r>
              <a:rPr lang="en-US" sz="2100">
                <a:latin typeface="Tahoma" panose="020B0604030504040204" pitchFamily="34" charset="0"/>
                <a:ea typeface="Tahoma" panose="020B0604030504040204" pitchFamily="34" charset="0"/>
                <a:cs typeface="Tahoma" panose="020B0604030504040204" pitchFamily="34" charset="0"/>
              </a:rPr>
              <a:t>Use sensor data like temperature and humidity.</a:t>
            </a:r>
          </a:p>
          <a:p>
            <a:pPr>
              <a:buFont typeface="Arial" panose="020B0604020202020204" pitchFamily="34" charset="0"/>
              <a:buChar char="•"/>
            </a:pPr>
            <a:r>
              <a:rPr lang="en-US" sz="2100">
                <a:latin typeface="Tahoma" panose="020B0604030504040204" pitchFamily="34" charset="0"/>
                <a:ea typeface="Tahoma" panose="020B0604030504040204" pitchFamily="34" charset="0"/>
                <a:cs typeface="Tahoma" panose="020B0604030504040204" pitchFamily="34" charset="0"/>
              </a:rPr>
              <a:t>Implement advanced models like transformers for sequence tasks.</a:t>
            </a:r>
          </a:p>
          <a:p>
            <a:pPr>
              <a:buFont typeface="Arial" panose="020B0604020202020204" pitchFamily="34" charset="0"/>
              <a:buChar char="•"/>
            </a:pPr>
            <a:r>
              <a:rPr lang="en-US" sz="2100">
                <a:latin typeface="Tahoma" panose="020B0604030504040204" pitchFamily="34" charset="0"/>
                <a:ea typeface="Tahoma" panose="020B0604030504040204" pitchFamily="34" charset="0"/>
                <a:cs typeface="Tahoma" panose="020B0604030504040204" pitchFamily="34" charset="0"/>
              </a:rPr>
              <a:t>Explore cutting-edge techniques for improved forecasting.</a:t>
            </a:r>
          </a:p>
          <a:p>
            <a:endParaRPr lang="el-GR"/>
          </a:p>
        </p:txBody>
      </p:sp>
    </p:spTree>
    <p:extLst>
      <p:ext uri="{BB962C8B-B14F-4D97-AF65-F5344CB8AC3E}">
        <p14:creationId xmlns:p14="http://schemas.microsoft.com/office/powerpoint/2010/main" val="188899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B714C58-D704-B01B-2C2C-17D59AE260BD}"/>
              </a:ext>
            </a:extLst>
          </p:cNvPr>
          <p:cNvSpPr>
            <a:spLocks noGrp="1"/>
          </p:cNvSpPr>
          <p:nvPr>
            <p:ph type="title"/>
          </p:nvPr>
        </p:nvSpPr>
        <p:spPr>
          <a:xfrm>
            <a:off x="1370564" y="1001285"/>
            <a:ext cx="9603275" cy="1049235"/>
          </a:xfrm>
        </p:spPr>
        <p:txBody>
          <a:bodyPr>
            <a:normAutofit/>
          </a:bodyPr>
          <a:lstStyle/>
          <a:p>
            <a:pPr algn="ctr"/>
            <a:r>
              <a:rPr lang="en-US" sz="4000" err="1">
                <a:latin typeface="Tahoma" panose="020B0604030504040204" pitchFamily="34" charset="0"/>
                <a:ea typeface="Tahoma" panose="020B0604030504040204" pitchFamily="34" charset="0"/>
                <a:cs typeface="Tahoma" panose="020B0604030504040204" pitchFamily="34" charset="0"/>
              </a:rPr>
              <a:t>dATA</a:t>
            </a:r>
            <a:r>
              <a:rPr lang="en-US" sz="4000" b="1">
                <a:latin typeface="Tahoma" panose="020B0604030504040204" pitchFamily="34" charset="0"/>
                <a:ea typeface="Tahoma" panose="020B0604030504040204" pitchFamily="34" charset="0"/>
                <a:cs typeface="Tahoma" panose="020B0604030504040204" pitchFamily="34" charset="0"/>
              </a:rPr>
              <a:t> </a:t>
            </a:r>
            <a:r>
              <a:rPr lang="en-US" sz="4000" err="1">
                <a:latin typeface="Tahoma" panose="020B0604030504040204" pitchFamily="34" charset="0"/>
                <a:ea typeface="Tahoma" panose="020B0604030504040204" pitchFamily="34" charset="0"/>
                <a:cs typeface="Tahoma" panose="020B0604030504040204" pitchFamily="34" charset="0"/>
              </a:rPr>
              <a:t>PREPROCESSing</a:t>
            </a:r>
            <a:endParaRPr lang="el-GR" sz="4000">
              <a:latin typeface="Tahoma" panose="020B0604030504040204" pitchFamily="34" charset="0"/>
              <a:ea typeface="Tahoma" panose="020B0604030504040204" pitchFamily="34" charset="0"/>
              <a:cs typeface="Tahoma" panose="020B0604030504040204" pitchFamily="34" charset="0"/>
            </a:endParaRPr>
          </a:p>
        </p:txBody>
      </p:sp>
      <p:sp>
        <p:nvSpPr>
          <p:cNvPr id="3" name="Θέση περιεχομένου 2">
            <a:extLst>
              <a:ext uri="{FF2B5EF4-FFF2-40B4-BE49-F238E27FC236}">
                <a16:creationId xmlns:a16="http://schemas.microsoft.com/office/drawing/2014/main" id="{C76B2B16-7CE9-2B0B-251E-6950CC33CB3F}"/>
              </a:ext>
            </a:extLst>
          </p:cNvPr>
          <p:cNvSpPr>
            <a:spLocks noGrp="1"/>
          </p:cNvSpPr>
          <p:nvPr>
            <p:ph idx="1"/>
          </p:nvPr>
        </p:nvSpPr>
        <p:spPr>
          <a:xfrm>
            <a:off x="1375379" y="1820590"/>
            <a:ext cx="5768371" cy="565543"/>
          </a:xfrm>
        </p:spPr>
        <p:txBody>
          <a:bodyPr>
            <a:normAutofit/>
          </a:bodyPr>
          <a:lstStyle/>
          <a:p>
            <a:pPr marL="0" indent="0">
              <a:buNone/>
            </a:pPr>
            <a:r>
              <a:rPr lang="en-US" b="1">
                <a:latin typeface="Tahoma" panose="020B0604030504040204" pitchFamily="34" charset="0"/>
                <a:ea typeface="Tahoma" panose="020B0604030504040204" pitchFamily="34" charset="0"/>
                <a:cs typeface="Tahoma" panose="020B0604030504040204" pitchFamily="34" charset="0"/>
              </a:rPr>
              <a:t>Preprocessing actions:</a:t>
            </a:r>
          </a:p>
          <a:p>
            <a:pPr marL="0" indent="0">
              <a:buNone/>
            </a:pPr>
            <a:endParaRPr lang="en-US" b="1"/>
          </a:p>
          <a:p>
            <a:pPr marL="0" indent="0">
              <a:buNone/>
            </a:pPr>
            <a:endParaRPr lang="en-US"/>
          </a:p>
          <a:p>
            <a:pPr marL="0" indent="0">
              <a:buNone/>
            </a:pPr>
            <a:endParaRPr lang="el-GR"/>
          </a:p>
        </p:txBody>
      </p:sp>
      <p:sp>
        <p:nvSpPr>
          <p:cNvPr id="6" name="TextBox 5">
            <a:extLst>
              <a:ext uri="{FF2B5EF4-FFF2-40B4-BE49-F238E27FC236}">
                <a16:creationId xmlns:a16="http://schemas.microsoft.com/office/drawing/2014/main" id="{7C53C065-93A5-E7AE-B6D4-9142BB137268}"/>
              </a:ext>
            </a:extLst>
          </p:cNvPr>
          <p:cNvSpPr txBox="1"/>
          <p:nvPr/>
        </p:nvSpPr>
        <p:spPr>
          <a:xfrm>
            <a:off x="1375379" y="2469775"/>
            <a:ext cx="4644421" cy="2862322"/>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a:tabLst/>
            </a:pPr>
            <a:r>
              <a:rPr kumimoji="0" lang="en-US"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Date</a:t>
            </a:r>
            <a:r>
              <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Conversion</a:t>
            </a:r>
            <a:r>
              <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and </a:t>
            </a: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Indexing</a:t>
            </a:r>
            <a:endParaRPr kumimoji="0" lang="en-US"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a:tabLst/>
            </a:pPr>
            <a:endPar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Missing</a:t>
            </a:r>
            <a:r>
              <a:rPr kumimoji="0" lang="el-GR" altLang="el-GR" sz="18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Value</a:t>
            </a:r>
            <a:r>
              <a:rPr kumimoji="0" lang="el-GR" altLang="el-GR" sz="18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Handling</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a:tabLst/>
            </a:pP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Outlier</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Removal</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a:tabLst/>
            </a:pP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Data</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Scaling</a:t>
            </a:r>
            <a:endParaRPr kumimoji="0" lang="en-US" altLang="el-GR" sz="18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a:tabLst/>
            </a:pPr>
            <a:endParaRPr kumimoji="0" lang="el-GR" altLang="el-GR" sz="18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Trend</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Visualization</a:t>
            </a: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endParaRPr lang="el-GR"/>
          </a:p>
        </p:txBody>
      </p:sp>
      <p:sp>
        <p:nvSpPr>
          <p:cNvPr id="7" name="TextBox 6">
            <a:extLst>
              <a:ext uri="{FF2B5EF4-FFF2-40B4-BE49-F238E27FC236}">
                <a16:creationId xmlns:a16="http://schemas.microsoft.com/office/drawing/2014/main" id="{3AA37D14-D28D-9506-A13D-266DFC64B434}"/>
              </a:ext>
            </a:extLst>
          </p:cNvPr>
          <p:cNvSpPr txBox="1"/>
          <p:nvPr/>
        </p:nvSpPr>
        <p:spPr>
          <a:xfrm>
            <a:off x="6172202" y="2469775"/>
            <a:ext cx="4644421" cy="2308324"/>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startAt="6"/>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Weekday</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vs</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Weekend</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Analysis</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startAt="6"/>
              <a:tabLst/>
            </a:pP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startAt="6"/>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Seasonal</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Decomposition</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startAt="6"/>
              <a:tabLst/>
            </a:pP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startAt="6"/>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Autocorrelation</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Analysis</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startAt="6"/>
              <a:tabLst/>
            </a:pP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mj-lt"/>
              <a:buAutoNum type="arabicPeriod" startAt="6"/>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Stationarity</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Check</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p>
            <a:endParaRPr lang="el-GR"/>
          </a:p>
        </p:txBody>
      </p:sp>
    </p:spTree>
    <p:extLst>
      <p:ext uri="{BB962C8B-B14F-4D97-AF65-F5344CB8AC3E}">
        <p14:creationId xmlns:p14="http://schemas.microsoft.com/office/powerpoint/2010/main" val="529273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B051B1C-EC9B-6559-E2C0-87B275889E00}"/>
              </a:ext>
            </a:extLst>
          </p:cNvPr>
          <p:cNvSpPr>
            <a:spLocks noGrp="1"/>
          </p:cNvSpPr>
          <p:nvPr>
            <p:ph type="title"/>
          </p:nvPr>
        </p:nvSpPr>
        <p:spPr>
          <a:xfrm>
            <a:off x="1417906" y="1013839"/>
            <a:ext cx="9629775" cy="546833"/>
          </a:xfrm>
        </p:spPr>
        <p:txBody>
          <a:bodyPr anchor="t">
            <a:noAutofit/>
          </a:bodyPr>
          <a:lstStyle/>
          <a:p>
            <a:pPr algn="ctr"/>
            <a:r>
              <a:rPr lang="en-US" sz="4000">
                <a:latin typeface="Tahoma" panose="020B0604030504040204" pitchFamily="34" charset="0"/>
                <a:ea typeface="Tahoma" panose="020B0604030504040204" pitchFamily="34" charset="0"/>
                <a:cs typeface="Tahoma" panose="020B0604030504040204" pitchFamily="34" charset="0"/>
              </a:rPr>
              <a:t>MODELS IMPlEMENTED</a:t>
            </a:r>
            <a:endParaRPr lang="el-GR" sz="4000">
              <a:latin typeface="Tahoma" panose="020B0604030504040204" pitchFamily="34" charset="0"/>
              <a:ea typeface="Tahoma" panose="020B0604030504040204" pitchFamily="34" charset="0"/>
              <a:cs typeface="Tahoma" panose="020B0604030504040204" pitchFamily="34" charset="0"/>
            </a:endParaRPr>
          </a:p>
        </p:txBody>
      </p:sp>
      <p:grpSp>
        <p:nvGrpSpPr>
          <p:cNvPr id="4" name="Ομάδα 3">
            <a:extLst>
              <a:ext uri="{FF2B5EF4-FFF2-40B4-BE49-F238E27FC236}">
                <a16:creationId xmlns:a16="http://schemas.microsoft.com/office/drawing/2014/main" id="{654EA07C-8391-B166-D854-EE63E0947612}"/>
              </a:ext>
            </a:extLst>
          </p:cNvPr>
          <p:cNvGrpSpPr/>
          <p:nvPr/>
        </p:nvGrpSpPr>
        <p:grpSpPr>
          <a:xfrm>
            <a:off x="916636" y="2841477"/>
            <a:ext cx="10568276" cy="2396924"/>
            <a:chOff x="-1443672" y="2730987"/>
            <a:chExt cx="10568276" cy="2396924"/>
          </a:xfrm>
        </p:grpSpPr>
        <p:sp>
          <p:nvSpPr>
            <p:cNvPr id="6" name="Ελεύθερη σχεδίαση: Σχήμα 5">
              <a:extLst>
                <a:ext uri="{FF2B5EF4-FFF2-40B4-BE49-F238E27FC236}">
                  <a16:creationId xmlns:a16="http://schemas.microsoft.com/office/drawing/2014/main" id="{52CF7A27-DEDC-13F9-3681-A2DF2276B03F}"/>
                </a:ext>
              </a:extLst>
            </p:cNvPr>
            <p:cNvSpPr/>
            <p:nvPr/>
          </p:nvSpPr>
          <p:spPr>
            <a:xfrm>
              <a:off x="-1443672" y="3266125"/>
              <a:ext cx="3272093" cy="678600"/>
            </a:xfrm>
            <a:custGeom>
              <a:avLst/>
              <a:gdLst>
                <a:gd name="connsiteX0" fmla="*/ 0 w 3272093"/>
                <a:gd name="connsiteY0" fmla="*/ 113102 h 678600"/>
                <a:gd name="connsiteX1" fmla="*/ 113102 w 3272093"/>
                <a:gd name="connsiteY1" fmla="*/ 0 h 678600"/>
                <a:gd name="connsiteX2" fmla="*/ 3158991 w 3272093"/>
                <a:gd name="connsiteY2" fmla="*/ 0 h 678600"/>
                <a:gd name="connsiteX3" fmla="*/ 3272093 w 3272093"/>
                <a:gd name="connsiteY3" fmla="*/ 113102 h 678600"/>
                <a:gd name="connsiteX4" fmla="*/ 3272093 w 3272093"/>
                <a:gd name="connsiteY4" fmla="*/ 565498 h 678600"/>
                <a:gd name="connsiteX5" fmla="*/ 3158991 w 3272093"/>
                <a:gd name="connsiteY5" fmla="*/ 678600 h 678600"/>
                <a:gd name="connsiteX6" fmla="*/ 113102 w 3272093"/>
                <a:gd name="connsiteY6" fmla="*/ 678600 h 678600"/>
                <a:gd name="connsiteX7" fmla="*/ 0 w 3272093"/>
                <a:gd name="connsiteY7" fmla="*/ 565498 h 678600"/>
                <a:gd name="connsiteX8" fmla="*/ 0 w 3272093"/>
                <a:gd name="connsiteY8" fmla="*/ 113102 h 67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2093" h="678600">
                  <a:moveTo>
                    <a:pt x="0" y="113102"/>
                  </a:moveTo>
                  <a:cubicBezTo>
                    <a:pt x="0" y="50637"/>
                    <a:pt x="50637" y="0"/>
                    <a:pt x="113102" y="0"/>
                  </a:cubicBezTo>
                  <a:lnTo>
                    <a:pt x="3158991" y="0"/>
                  </a:lnTo>
                  <a:cubicBezTo>
                    <a:pt x="3221456" y="0"/>
                    <a:pt x="3272093" y="50637"/>
                    <a:pt x="3272093" y="113102"/>
                  </a:cubicBezTo>
                  <a:lnTo>
                    <a:pt x="3272093" y="565498"/>
                  </a:lnTo>
                  <a:cubicBezTo>
                    <a:pt x="3272093" y="627963"/>
                    <a:pt x="3221456" y="678600"/>
                    <a:pt x="3158991" y="678600"/>
                  </a:cubicBezTo>
                  <a:lnTo>
                    <a:pt x="113102" y="678600"/>
                  </a:lnTo>
                  <a:cubicBezTo>
                    <a:pt x="50637" y="678600"/>
                    <a:pt x="0" y="627963"/>
                    <a:pt x="0" y="565498"/>
                  </a:cubicBezTo>
                  <a:lnTo>
                    <a:pt x="0" y="113102"/>
                  </a:lnTo>
                  <a:close/>
                </a:path>
              </a:pathLst>
            </a:custGeom>
            <a:solidFill>
              <a:srgbClr val="92D050"/>
            </a:solidFill>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43617" tIns="143617" rIns="143617" bIns="143617" numCol="1" spcCol="1270" anchor="ctr" anchorCtr="0">
              <a:noAutofit/>
            </a:bodyPr>
            <a:lstStyle/>
            <a:p>
              <a:pPr marL="0" lvl="0" indent="0" algn="ctr" defTabSz="1289050">
                <a:lnSpc>
                  <a:spcPct val="90000"/>
                </a:lnSpc>
                <a:spcBef>
                  <a:spcPct val="0"/>
                </a:spcBef>
                <a:spcAft>
                  <a:spcPct val="35000"/>
                </a:spcAft>
                <a:buNone/>
              </a:pPr>
              <a:r>
                <a:rPr lang="en-US" sz="2800" kern="1200">
                  <a:solidFill>
                    <a:schemeClr val="tx1"/>
                  </a:solidFill>
                  <a:latin typeface="Tahoma" panose="020B0604030504040204" pitchFamily="34" charset="0"/>
                  <a:ea typeface="Tahoma" panose="020B0604030504040204" pitchFamily="34" charset="0"/>
                  <a:cs typeface="Tahoma" panose="020B0604030504040204" pitchFamily="34" charset="0"/>
                </a:rPr>
                <a:t>GBM</a:t>
              </a:r>
            </a:p>
          </p:txBody>
        </p:sp>
        <p:sp>
          <p:nvSpPr>
            <p:cNvPr id="21" name="Ελεύθερη σχεδίαση: Σχήμα 20">
              <a:extLst>
                <a:ext uri="{FF2B5EF4-FFF2-40B4-BE49-F238E27FC236}">
                  <a16:creationId xmlns:a16="http://schemas.microsoft.com/office/drawing/2014/main" id="{0C966A72-6C3C-B434-C8C4-4419B50ED564}"/>
                </a:ext>
              </a:extLst>
            </p:cNvPr>
            <p:cNvSpPr/>
            <p:nvPr/>
          </p:nvSpPr>
          <p:spPr>
            <a:xfrm>
              <a:off x="-1443671" y="4110011"/>
              <a:ext cx="3272093" cy="678600"/>
            </a:xfrm>
            <a:custGeom>
              <a:avLst/>
              <a:gdLst>
                <a:gd name="connsiteX0" fmla="*/ 0 w 3272093"/>
                <a:gd name="connsiteY0" fmla="*/ 113102 h 678600"/>
                <a:gd name="connsiteX1" fmla="*/ 113102 w 3272093"/>
                <a:gd name="connsiteY1" fmla="*/ 0 h 678600"/>
                <a:gd name="connsiteX2" fmla="*/ 3158991 w 3272093"/>
                <a:gd name="connsiteY2" fmla="*/ 0 h 678600"/>
                <a:gd name="connsiteX3" fmla="*/ 3272093 w 3272093"/>
                <a:gd name="connsiteY3" fmla="*/ 113102 h 678600"/>
                <a:gd name="connsiteX4" fmla="*/ 3272093 w 3272093"/>
                <a:gd name="connsiteY4" fmla="*/ 565498 h 678600"/>
                <a:gd name="connsiteX5" fmla="*/ 3158991 w 3272093"/>
                <a:gd name="connsiteY5" fmla="*/ 678600 h 678600"/>
                <a:gd name="connsiteX6" fmla="*/ 113102 w 3272093"/>
                <a:gd name="connsiteY6" fmla="*/ 678600 h 678600"/>
                <a:gd name="connsiteX7" fmla="*/ 0 w 3272093"/>
                <a:gd name="connsiteY7" fmla="*/ 565498 h 678600"/>
                <a:gd name="connsiteX8" fmla="*/ 0 w 3272093"/>
                <a:gd name="connsiteY8" fmla="*/ 113102 h 67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2093" h="678600">
                  <a:moveTo>
                    <a:pt x="0" y="113102"/>
                  </a:moveTo>
                  <a:cubicBezTo>
                    <a:pt x="0" y="50637"/>
                    <a:pt x="50637" y="0"/>
                    <a:pt x="113102" y="0"/>
                  </a:cubicBezTo>
                  <a:lnTo>
                    <a:pt x="3158991" y="0"/>
                  </a:lnTo>
                  <a:cubicBezTo>
                    <a:pt x="3221456" y="0"/>
                    <a:pt x="3272093" y="50637"/>
                    <a:pt x="3272093" y="113102"/>
                  </a:cubicBezTo>
                  <a:lnTo>
                    <a:pt x="3272093" y="565498"/>
                  </a:lnTo>
                  <a:cubicBezTo>
                    <a:pt x="3272093" y="627963"/>
                    <a:pt x="3221456" y="678600"/>
                    <a:pt x="3158991" y="678600"/>
                  </a:cubicBezTo>
                  <a:lnTo>
                    <a:pt x="113102" y="678600"/>
                  </a:lnTo>
                  <a:cubicBezTo>
                    <a:pt x="50637" y="678600"/>
                    <a:pt x="0" y="627963"/>
                    <a:pt x="0" y="565498"/>
                  </a:cubicBezTo>
                  <a:lnTo>
                    <a:pt x="0" y="113102"/>
                  </a:lnTo>
                  <a:close/>
                </a:path>
              </a:pathLst>
            </a:custGeom>
            <a:solidFill>
              <a:srgbClr val="92D050"/>
            </a:solidFill>
          </p:spPr>
          <p:style>
            <a:lnRef idx="0">
              <a:schemeClr val="lt1">
                <a:hueOff val="0"/>
                <a:satOff val="0"/>
                <a:lumOff val="0"/>
                <a:alphaOff val="0"/>
              </a:schemeClr>
            </a:lnRef>
            <a:fillRef idx="3">
              <a:schemeClr val="accent5">
                <a:hueOff val="-336926"/>
                <a:satOff val="-1589"/>
                <a:lumOff val="392"/>
                <a:alphaOff val="0"/>
              </a:schemeClr>
            </a:fillRef>
            <a:effectRef idx="2">
              <a:schemeClr val="accent5">
                <a:hueOff val="-336926"/>
                <a:satOff val="-1589"/>
                <a:lumOff val="392"/>
                <a:alphaOff val="0"/>
              </a:schemeClr>
            </a:effectRef>
            <a:fontRef idx="minor">
              <a:schemeClr val="lt1"/>
            </a:fontRef>
          </p:style>
          <p:txBody>
            <a:bodyPr spcFirstLastPara="0" vert="horz" wrap="square" lIns="143617" tIns="143617" rIns="143617" bIns="143617" numCol="1" spcCol="1270" anchor="ctr" anchorCtr="0">
              <a:noAutofit/>
            </a:bodyPr>
            <a:lstStyle/>
            <a:p>
              <a:pPr marL="0" lvl="0" indent="0" algn="ctr" defTabSz="1289050">
                <a:lnSpc>
                  <a:spcPct val="90000"/>
                </a:lnSpc>
                <a:spcBef>
                  <a:spcPct val="0"/>
                </a:spcBef>
                <a:spcAft>
                  <a:spcPct val="35000"/>
                </a:spcAft>
                <a:buNone/>
              </a:pPr>
              <a:r>
                <a:rPr lang="en-US" sz="2800" kern="1200">
                  <a:solidFill>
                    <a:schemeClr val="tx1"/>
                  </a:solidFill>
                  <a:latin typeface="Tahoma" panose="020B0604030504040204" pitchFamily="34" charset="0"/>
                  <a:ea typeface="Tahoma" panose="020B0604030504040204" pitchFamily="34" charset="0"/>
                  <a:cs typeface="Tahoma" panose="020B0604030504040204" pitchFamily="34" charset="0"/>
                </a:rPr>
                <a:t>XGBOOST</a:t>
              </a:r>
            </a:p>
          </p:txBody>
        </p:sp>
        <p:sp>
          <p:nvSpPr>
            <p:cNvPr id="23" name="Ελεύθερη σχεδίαση: Σχήμα 22">
              <a:extLst>
                <a:ext uri="{FF2B5EF4-FFF2-40B4-BE49-F238E27FC236}">
                  <a16:creationId xmlns:a16="http://schemas.microsoft.com/office/drawing/2014/main" id="{7B42F0E2-0766-F32C-35EA-950D8F6C27F7}"/>
                </a:ext>
              </a:extLst>
            </p:cNvPr>
            <p:cNvSpPr/>
            <p:nvPr/>
          </p:nvSpPr>
          <p:spPr>
            <a:xfrm>
              <a:off x="2236440" y="2730987"/>
              <a:ext cx="3272093" cy="678600"/>
            </a:xfrm>
            <a:custGeom>
              <a:avLst/>
              <a:gdLst>
                <a:gd name="connsiteX0" fmla="*/ 0 w 3272093"/>
                <a:gd name="connsiteY0" fmla="*/ 113102 h 678600"/>
                <a:gd name="connsiteX1" fmla="*/ 113102 w 3272093"/>
                <a:gd name="connsiteY1" fmla="*/ 0 h 678600"/>
                <a:gd name="connsiteX2" fmla="*/ 3158991 w 3272093"/>
                <a:gd name="connsiteY2" fmla="*/ 0 h 678600"/>
                <a:gd name="connsiteX3" fmla="*/ 3272093 w 3272093"/>
                <a:gd name="connsiteY3" fmla="*/ 113102 h 678600"/>
                <a:gd name="connsiteX4" fmla="*/ 3272093 w 3272093"/>
                <a:gd name="connsiteY4" fmla="*/ 565498 h 678600"/>
                <a:gd name="connsiteX5" fmla="*/ 3158991 w 3272093"/>
                <a:gd name="connsiteY5" fmla="*/ 678600 h 678600"/>
                <a:gd name="connsiteX6" fmla="*/ 113102 w 3272093"/>
                <a:gd name="connsiteY6" fmla="*/ 678600 h 678600"/>
                <a:gd name="connsiteX7" fmla="*/ 0 w 3272093"/>
                <a:gd name="connsiteY7" fmla="*/ 565498 h 678600"/>
                <a:gd name="connsiteX8" fmla="*/ 0 w 3272093"/>
                <a:gd name="connsiteY8" fmla="*/ 113102 h 67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2093" h="678600">
                  <a:moveTo>
                    <a:pt x="0" y="113102"/>
                  </a:moveTo>
                  <a:cubicBezTo>
                    <a:pt x="0" y="50637"/>
                    <a:pt x="50637" y="0"/>
                    <a:pt x="113102" y="0"/>
                  </a:cubicBezTo>
                  <a:lnTo>
                    <a:pt x="3158991" y="0"/>
                  </a:lnTo>
                  <a:cubicBezTo>
                    <a:pt x="3221456" y="0"/>
                    <a:pt x="3272093" y="50637"/>
                    <a:pt x="3272093" y="113102"/>
                  </a:cubicBezTo>
                  <a:lnTo>
                    <a:pt x="3272093" y="565498"/>
                  </a:lnTo>
                  <a:cubicBezTo>
                    <a:pt x="3272093" y="627963"/>
                    <a:pt x="3221456" y="678600"/>
                    <a:pt x="3158991" y="678600"/>
                  </a:cubicBezTo>
                  <a:lnTo>
                    <a:pt x="113102" y="678600"/>
                  </a:lnTo>
                  <a:cubicBezTo>
                    <a:pt x="50637" y="678600"/>
                    <a:pt x="0" y="627963"/>
                    <a:pt x="0" y="565498"/>
                  </a:cubicBezTo>
                  <a:lnTo>
                    <a:pt x="0" y="113102"/>
                  </a:lnTo>
                  <a:close/>
                </a:path>
              </a:pathLst>
            </a:custGeom>
            <a:solidFill>
              <a:srgbClr val="C00000"/>
            </a:solidFill>
          </p:spPr>
          <p:style>
            <a:lnRef idx="0">
              <a:schemeClr val="lt1">
                <a:hueOff val="0"/>
                <a:satOff val="0"/>
                <a:lumOff val="0"/>
                <a:alphaOff val="0"/>
              </a:schemeClr>
            </a:lnRef>
            <a:fillRef idx="3">
              <a:schemeClr val="accent5">
                <a:hueOff val="-673852"/>
                <a:satOff val="-3178"/>
                <a:lumOff val="784"/>
                <a:alphaOff val="0"/>
              </a:schemeClr>
            </a:fillRef>
            <a:effectRef idx="2">
              <a:schemeClr val="accent5">
                <a:hueOff val="-673852"/>
                <a:satOff val="-3178"/>
                <a:lumOff val="784"/>
                <a:alphaOff val="0"/>
              </a:schemeClr>
            </a:effectRef>
            <a:fontRef idx="minor">
              <a:schemeClr val="lt1"/>
            </a:fontRef>
          </p:style>
          <p:txBody>
            <a:bodyPr spcFirstLastPara="0" vert="horz" wrap="square" lIns="143617" tIns="143617" rIns="143617" bIns="143617" numCol="1" spcCol="1270" anchor="ctr" anchorCtr="0">
              <a:noAutofit/>
            </a:bodyPr>
            <a:lstStyle/>
            <a:p>
              <a:pPr marL="0" lvl="0" indent="0" algn="ctr" defTabSz="1289050">
                <a:lnSpc>
                  <a:spcPct val="90000"/>
                </a:lnSpc>
                <a:spcBef>
                  <a:spcPct val="0"/>
                </a:spcBef>
                <a:spcAft>
                  <a:spcPct val="35000"/>
                </a:spcAft>
                <a:buNone/>
              </a:pPr>
              <a:r>
                <a:rPr lang="en-US" sz="2800" kern="1200">
                  <a:solidFill>
                    <a:schemeClr val="tx1"/>
                  </a:solidFill>
                  <a:latin typeface="Tahoma" panose="020B0604030504040204" pitchFamily="34" charset="0"/>
                  <a:ea typeface="Tahoma" panose="020B0604030504040204" pitchFamily="34" charset="0"/>
                  <a:cs typeface="Tahoma" panose="020B0604030504040204" pitchFamily="34" charset="0"/>
                </a:rPr>
                <a:t>LSTM</a:t>
              </a:r>
            </a:p>
          </p:txBody>
        </p:sp>
        <p:sp>
          <p:nvSpPr>
            <p:cNvPr id="25" name="Ελεύθερη σχεδίαση: Σχήμα 24">
              <a:extLst>
                <a:ext uri="{FF2B5EF4-FFF2-40B4-BE49-F238E27FC236}">
                  <a16:creationId xmlns:a16="http://schemas.microsoft.com/office/drawing/2014/main" id="{1B32F16D-2F94-9EC5-0C21-44110CE13910}"/>
                </a:ext>
              </a:extLst>
            </p:cNvPr>
            <p:cNvSpPr/>
            <p:nvPr/>
          </p:nvSpPr>
          <p:spPr>
            <a:xfrm>
              <a:off x="2204420" y="3605425"/>
              <a:ext cx="3272093" cy="678600"/>
            </a:xfrm>
            <a:custGeom>
              <a:avLst/>
              <a:gdLst>
                <a:gd name="connsiteX0" fmla="*/ 0 w 3272093"/>
                <a:gd name="connsiteY0" fmla="*/ 113102 h 678600"/>
                <a:gd name="connsiteX1" fmla="*/ 113102 w 3272093"/>
                <a:gd name="connsiteY1" fmla="*/ 0 h 678600"/>
                <a:gd name="connsiteX2" fmla="*/ 3158991 w 3272093"/>
                <a:gd name="connsiteY2" fmla="*/ 0 h 678600"/>
                <a:gd name="connsiteX3" fmla="*/ 3272093 w 3272093"/>
                <a:gd name="connsiteY3" fmla="*/ 113102 h 678600"/>
                <a:gd name="connsiteX4" fmla="*/ 3272093 w 3272093"/>
                <a:gd name="connsiteY4" fmla="*/ 565498 h 678600"/>
                <a:gd name="connsiteX5" fmla="*/ 3158991 w 3272093"/>
                <a:gd name="connsiteY5" fmla="*/ 678600 h 678600"/>
                <a:gd name="connsiteX6" fmla="*/ 113102 w 3272093"/>
                <a:gd name="connsiteY6" fmla="*/ 678600 h 678600"/>
                <a:gd name="connsiteX7" fmla="*/ 0 w 3272093"/>
                <a:gd name="connsiteY7" fmla="*/ 565498 h 678600"/>
                <a:gd name="connsiteX8" fmla="*/ 0 w 3272093"/>
                <a:gd name="connsiteY8" fmla="*/ 113102 h 67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2093" h="678600">
                  <a:moveTo>
                    <a:pt x="0" y="113102"/>
                  </a:moveTo>
                  <a:cubicBezTo>
                    <a:pt x="0" y="50637"/>
                    <a:pt x="50637" y="0"/>
                    <a:pt x="113102" y="0"/>
                  </a:cubicBezTo>
                  <a:lnTo>
                    <a:pt x="3158991" y="0"/>
                  </a:lnTo>
                  <a:cubicBezTo>
                    <a:pt x="3221456" y="0"/>
                    <a:pt x="3272093" y="50637"/>
                    <a:pt x="3272093" y="113102"/>
                  </a:cubicBezTo>
                  <a:lnTo>
                    <a:pt x="3272093" y="565498"/>
                  </a:lnTo>
                  <a:cubicBezTo>
                    <a:pt x="3272093" y="627963"/>
                    <a:pt x="3221456" y="678600"/>
                    <a:pt x="3158991" y="678600"/>
                  </a:cubicBezTo>
                  <a:lnTo>
                    <a:pt x="113102" y="678600"/>
                  </a:lnTo>
                  <a:cubicBezTo>
                    <a:pt x="50637" y="678600"/>
                    <a:pt x="0" y="627963"/>
                    <a:pt x="0" y="565498"/>
                  </a:cubicBezTo>
                  <a:lnTo>
                    <a:pt x="0" y="113102"/>
                  </a:lnTo>
                  <a:close/>
                </a:path>
              </a:pathLst>
            </a:custGeom>
            <a:solidFill>
              <a:srgbClr val="C00000"/>
            </a:solidFill>
          </p:spPr>
          <p:style>
            <a:lnRef idx="0">
              <a:schemeClr val="lt1">
                <a:hueOff val="0"/>
                <a:satOff val="0"/>
                <a:lumOff val="0"/>
                <a:alphaOff val="0"/>
              </a:schemeClr>
            </a:lnRef>
            <a:fillRef idx="3">
              <a:schemeClr val="accent5">
                <a:hueOff val="-1010778"/>
                <a:satOff val="-4766"/>
                <a:lumOff val="1176"/>
                <a:alphaOff val="0"/>
              </a:schemeClr>
            </a:fillRef>
            <a:effectRef idx="2">
              <a:schemeClr val="accent5">
                <a:hueOff val="-1010778"/>
                <a:satOff val="-4766"/>
                <a:lumOff val="1176"/>
                <a:alphaOff val="0"/>
              </a:schemeClr>
            </a:effectRef>
            <a:fontRef idx="minor">
              <a:schemeClr val="lt1"/>
            </a:fontRef>
          </p:style>
          <p:txBody>
            <a:bodyPr spcFirstLastPara="0" vert="horz" wrap="square" lIns="143617" tIns="143617" rIns="143617" bIns="143617" numCol="1" spcCol="1270" anchor="ctr" anchorCtr="0">
              <a:noAutofit/>
            </a:bodyPr>
            <a:lstStyle/>
            <a:p>
              <a:pPr marL="0" lvl="0" indent="0" algn="ctr" defTabSz="1289050">
                <a:lnSpc>
                  <a:spcPct val="90000"/>
                </a:lnSpc>
                <a:spcBef>
                  <a:spcPct val="0"/>
                </a:spcBef>
                <a:spcAft>
                  <a:spcPct val="35000"/>
                </a:spcAft>
                <a:buNone/>
              </a:pPr>
              <a:r>
                <a:rPr lang="en-US" sz="2800" kern="1200">
                  <a:solidFill>
                    <a:schemeClr val="tx1"/>
                  </a:solidFill>
                  <a:latin typeface="Tahoma" panose="020B0604030504040204" pitchFamily="34" charset="0"/>
                  <a:ea typeface="Tahoma" panose="020B0604030504040204" pitchFamily="34" charset="0"/>
                  <a:cs typeface="Tahoma" panose="020B0604030504040204" pitchFamily="34" charset="0"/>
                </a:rPr>
                <a:t>GRU</a:t>
              </a:r>
            </a:p>
          </p:txBody>
        </p:sp>
        <p:sp>
          <p:nvSpPr>
            <p:cNvPr id="27" name="Ελεύθερη σχεδίαση: Σχήμα 26">
              <a:extLst>
                <a:ext uri="{FF2B5EF4-FFF2-40B4-BE49-F238E27FC236}">
                  <a16:creationId xmlns:a16="http://schemas.microsoft.com/office/drawing/2014/main" id="{4E57579E-88BD-C12C-766C-844D4D24B673}"/>
                </a:ext>
              </a:extLst>
            </p:cNvPr>
            <p:cNvSpPr/>
            <p:nvPr/>
          </p:nvSpPr>
          <p:spPr>
            <a:xfrm>
              <a:off x="2204419" y="4449311"/>
              <a:ext cx="3272093" cy="678600"/>
            </a:xfrm>
            <a:custGeom>
              <a:avLst/>
              <a:gdLst>
                <a:gd name="connsiteX0" fmla="*/ 0 w 3272093"/>
                <a:gd name="connsiteY0" fmla="*/ 113102 h 678600"/>
                <a:gd name="connsiteX1" fmla="*/ 113102 w 3272093"/>
                <a:gd name="connsiteY1" fmla="*/ 0 h 678600"/>
                <a:gd name="connsiteX2" fmla="*/ 3158991 w 3272093"/>
                <a:gd name="connsiteY2" fmla="*/ 0 h 678600"/>
                <a:gd name="connsiteX3" fmla="*/ 3272093 w 3272093"/>
                <a:gd name="connsiteY3" fmla="*/ 113102 h 678600"/>
                <a:gd name="connsiteX4" fmla="*/ 3272093 w 3272093"/>
                <a:gd name="connsiteY4" fmla="*/ 565498 h 678600"/>
                <a:gd name="connsiteX5" fmla="*/ 3158991 w 3272093"/>
                <a:gd name="connsiteY5" fmla="*/ 678600 h 678600"/>
                <a:gd name="connsiteX6" fmla="*/ 113102 w 3272093"/>
                <a:gd name="connsiteY6" fmla="*/ 678600 h 678600"/>
                <a:gd name="connsiteX7" fmla="*/ 0 w 3272093"/>
                <a:gd name="connsiteY7" fmla="*/ 565498 h 678600"/>
                <a:gd name="connsiteX8" fmla="*/ 0 w 3272093"/>
                <a:gd name="connsiteY8" fmla="*/ 113102 h 67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2093" h="678600">
                  <a:moveTo>
                    <a:pt x="0" y="113102"/>
                  </a:moveTo>
                  <a:cubicBezTo>
                    <a:pt x="0" y="50637"/>
                    <a:pt x="50637" y="0"/>
                    <a:pt x="113102" y="0"/>
                  </a:cubicBezTo>
                  <a:lnTo>
                    <a:pt x="3158991" y="0"/>
                  </a:lnTo>
                  <a:cubicBezTo>
                    <a:pt x="3221456" y="0"/>
                    <a:pt x="3272093" y="50637"/>
                    <a:pt x="3272093" y="113102"/>
                  </a:cubicBezTo>
                  <a:lnTo>
                    <a:pt x="3272093" y="565498"/>
                  </a:lnTo>
                  <a:cubicBezTo>
                    <a:pt x="3272093" y="627963"/>
                    <a:pt x="3221456" y="678600"/>
                    <a:pt x="3158991" y="678600"/>
                  </a:cubicBezTo>
                  <a:lnTo>
                    <a:pt x="113102" y="678600"/>
                  </a:lnTo>
                  <a:cubicBezTo>
                    <a:pt x="50637" y="678600"/>
                    <a:pt x="0" y="627963"/>
                    <a:pt x="0" y="565498"/>
                  </a:cubicBezTo>
                  <a:lnTo>
                    <a:pt x="0" y="113102"/>
                  </a:lnTo>
                  <a:close/>
                </a:path>
              </a:pathLst>
            </a:custGeom>
            <a:solidFill>
              <a:srgbClr val="C00000"/>
            </a:solidFill>
          </p:spPr>
          <p:style>
            <a:lnRef idx="0">
              <a:schemeClr val="lt1">
                <a:hueOff val="0"/>
                <a:satOff val="0"/>
                <a:lumOff val="0"/>
                <a:alphaOff val="0"/>
              </a:schemeClr>
            </a:lnRef>
            <a:fillRef idx="3">
              <a:schemeClr val="accent5">
                <a:hueOff val="-1347705"/>
                <a:satOff val="-6355"/>
                <a:lumOff val="1568"/>
                <a:alphaOff val="0"/>
              </a:schemeClr>
            </a:fillRef>
            <a:effectRef idx="2">
              <a:schemeClr val="accent5">
                <a:hueOff val="-1347705"/>
                <a:satOff val="-6355"/>
                <a:lumOff val="1568"/>
                <a:alphaOff val="0"/>
              </a:schemeClr>
            </a:effectRef>
            <a:fontRef idx="minor">
              <a:schemeClr val="lt1"/>
            </a:fontRef>
          </p:style>
          <p:txBody>
            <a:bodyPr spcFirstLastPara="0" vert="horz" wrap="square" lIns="143617" tIns="143617" rIns="143617" bIns="143617" numCol="1" spcCol="1270" anchor="ctr" anchorCtr="0">
              <a:noAutofit/>
            </a:bodyPr>
            <a:lstStyle/>
            <a:p>
              <a:pPr marL="0" lvl="0" indent="0" algn="ctr" defTabSz="1289050">
                <a:lnSpc>
                  <a:spcPct val="90000"/>
                </a:lnSpc>
                <a:spcBef>
                  <a:spcPct val="0"/>
                </a:spcBef>
                <a:spcAft>
                  <a:spcPct val="35000"/>
                </a:spcAft>
                <a:buNone/>
              </a:pPr>
              <a:r>
                <a:rPr lang="en-US" sz="2800" kern="1200">
                  <a:solidFill>
                    <a:schemeClr val="tx1"/>
                  </a:solidFill>
                  <a:latin typeface="Tahoma" panose="020B0604030504040204" pitchFamily="34" charset="0"/>
                  <a:ea typeface="Tahoma" panose="020B0604030504040204" pitchFamily="34" charset="0"/>
                  <a:cs typeface="Tahoma" panose="020B0604030504040204" pitchFamily="34" charset="0"/>
                </a:rPr>
                <a:t>CNN</a:t>
              </a:r>
            </a:p>
          </p:txBody>
        </p:sp>
        <p:sp>
          <p:nvSpPr>
            <p:cNvPr id="29" name="Ελεύθερη σχεδίαση: Σχήμα 28">
              <a:extLst>
                <a:ext uri="{FF2B5EF4-FFF2-40B4-BE49-F238E27FC236}">
                  <a16:creationId xmlns:a16="http://schemas.microsoft.com/office/drawing/2014/main" id="{210456CC-B853-E762-1C26-A3C7311F6C05}"/>
                </a:ext>
              </a:extLst>
            </p:cNvPr>
            <p:cNvSpPr/>
            <p:nvPr/>
          </p:nvSpPr>
          <p:spPr>
            <a:xfrm>
              <a:off x="5852511" y="3605425"/>
              <a:ext cx="3272093" cy="678600"/>
            </a:xfrm>
            <a:custGeom>
              <a:avLst/>
              <a:gdLst>
                <a:gd name="connsiteX0" fmla="*/ 0 w 3272093"/>
                <a:gd name="connsiteY0" fmla="*/ 113102 h 678600"/>
                <a:gd name="connsiteX1" fmla="*/ 113102 w 3272093"/>
                <a:gd name="connsiteY1" fmla="*/ 0 h 678600"/>
                <a:gd name="connsiteX2" fmla="*/ 3158991 w 3272093"/>
                <a:gd name="connsiteY2" fmla="*/ 0 h 678600"/>
                <a:gd name="connsiteX3" fmla="*/ 3272093 w 3272093"/>
                <a:gd name="connsiteY3" fmla="*/ 113102 h 678600"/>
                <a:gd name="connsiteX4" fmla="*/ 3272093 w 3272093"/>
                <a:gd name="connsiteY4" fmla="*/ 565498 h 678600"/>
                <a:gd name="connsiteX5" fmla="*/ 3158991 w 3272093"/>
                <a:gd name="connsiteY5" fmla="*/ 678600 h 678600"/>
                <a:gd name="connsiteX6" fmla="*/ 113102 w 3272093"/>
                <a:gd name="connsiteY6" fmla="*/ 678600 h 678600"/>
                <a:gd name="connsiteX7" fmla="*/ 0 w 3272093"/>
                <a:gd name="connsiteY7" fmla="*/ 565498 h 678600"/>
                <a:gd name="connsiteX8" fmla="*/ 0 w 3272093"/>
                <a:gd name="connsiteY8" fmla="*/ 113102 h 67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2093" h="678600">
                  <a:moveTo>
                    <a:pt x="0" y="113102"/>
                  </a:moveTo>
                  <a:cubicBezTo>
                    <a:pt x="0" y="50637"/>
                    <a:pt x="50637" y="0"/>
                    <a:pt x="113102" y="0"/>
                  </a:cubicBezTo>
                  <a:lnTo>
                    <a:pt x="3158991" y="0"/>
                  </a:lnTo>
                  <a:cubicBezTo>
                    <a:pt x="3221456" y="0"/>
                    <a:pt x="3272093" y="50637"/>
                    <a:pt x="3272093" y="113102"/>
                  </a:cubicBezTo>
                  <a:lnTo>
                    <a:pt x="3272093" y="565498"/>
                  </a:lnTo>
                  <a:cubicBezTo>
                    <a:pt x="3272093" y="627963"/>
                    <a:pt x="3221456" y="678600"/>
                    <a:pt x="3158991" y="678600"/>
                  </a:cubicBezTo>
                  <a:lnTo>
                    <a:pt x="113102" y="678600"/>
                  </a:lnTo>
                  <a:cubicBezTo>
                    <a:pt x="50637" y="678600"/>
                    <a:pt x="0" y="627963"/>
                    <a:pt x="0" y="565498"/>
                  </a:cubicBezTo>
                  <a:lnTo>
                    <a:pt x="0" y="113102"/>
                  </a:lnTo>
                  <a:close/>
                </a:path>
              </a:pathLst>
            </a:custGeom>
            <a:solidFill>
              <a:srgbClr val="0070C0"/>
            </a:solidFill>
          </p:spPr>
          <p:style>
            <a:lnRef idx="0">
              <a:schemeClr val="lt1">
                <a:hueOff val="0"/>
                <a:satOff val="0"/>
                <a:lumOff val="0"/>
                <a:alphaOff val="0"/>
              </a:schemeClr>
            </a:lnRef>
            <a:fillRef idx="3">
              <a:schemeClr val="accent5">
                <a:hueOff val="-1684631"/>
                <a:satOff val="-7944"/>
                <a:lumOff val="1960"/>
                <a:alphaOff val="0"/>
              </a:schemeClr>
            </a:fillRef>
            <a:effectRef idx="2">
              <a:schemeClr val="accent5">
                <a:hueOff val="-1684631"/>
                <a:satOff val="-7944"/>
                <a:lumOff val="1960"/>
                <a:alphaOff val="0"/>
              </a:schemeClr>
            </a:effectRef>
            <a:fontRef idx="minor">
              <a:schemeClr val="lt1"/>
            </a:fontRef>
          </p:style>
          <p:txBody>
            <a:bodyPr spcFirstLastPara="0" vert="horz" wrap="square" lIns="143617" tIns="143617" rIns="143617" bIns="143617" numCol="1" spcCol="1270" anchor="ctr" anchorCtr="0">
              <a:noAutofit/>
            </a:bodyPr>
            <a:lstStyle/>
            <a:p>
              <a:pPr marL="0" lvl="0" indent="0" algn="ctr" defTabSz="1289050">
                <a:lnSpc>
                  <a:spcPct val="90000"/>
                </a:lnSpc>
                <a:spcBef>
                  <a:spcPct val="0"/>
                </a:spcBef>
                <a:spcAft>
                  <a:spcPct val="35000"/>
                </a:spcAft>
                <a:buNone/>
              </a:pPr>
              <a:r>
                <a:rPr lang="en-US" sz="2800" kern="1200">
                  <a:solidFill>
                    <a:schemeClr val="tx1"/>
                  </a:solidFill>
                  <a:latin typeface="Tahoma" panose="020B0604030504040204" pitchFamily="34" charset="0"/>
                  <a:ea typeface="Tahoma" panose="020B0604030504040204" pitchFamily="34" charset="0"/>
                  <a:cs typeface="Tahoma" panose="020B0604030504040204" pitchFamily="34" charset="0"/>
                </a:rPr>
                <a:t>TRANSFORMER</a:t>
              </a:r>
            </a:p>
          </p:txBody>
        </p:sp>
      </p:grpSp>
      <p:sp>
        <p:nvSpPr>
          <p:cNvPr id="7" name="TextBox 6">
            <a:extLst>
              <a:ext uri="{FF2B5EF4-FFF2-40B4-BE49-F238E27FC236}">
                <a16:creationId xmlns:a16="http://schemas.microsoft.com/office/drawing/2014/main" id="{ECC2C066-0457-50B7-2031-4F33FEA10F1C}"/>
              </a:ext>
            </a:extLst>
          </p:cNvPr>
          <p:cNvSpPr txBox="1"/>
          <p:nvPr/>
        </p:nvSpPr>
        <p:spPr>
          <a:xfrm>
            <a:off x="4606273" y="1932007"/>
            <a:ext cx="3082402" cy="400110"/>
          </a:xfrm>
          <a:prstGeom prst="rect">
            <a:avLst/>
          </a:prstGeom>
          <a:noFill/>
        </p:spPr>
        <p:txBody>
          <a:bodyPr wrap="square">
            <a:spAutoFit/>
          </a:bodyPr>
          <a:lstStyle/>
          <a:p>
            <a:pPr algn="ctr"/>
            <a:r>
              <a:rPr kumimoji="0" lang="el-GR" altLang="el-GR" sz="2000" i="0" u="sng"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Deep Learning Models </a:t>
            </a:r>
            <a:endParaRPr lang="el-GR" sz="2000" u="sng">
              <a:latin typeface="Tahoma" panose="020B0604030504040204" pitchFamily="34" charset="0"/>
              <a:ea typeface="Tahoma" panose="020B0604030504040204" pitchFamily="34" charset="0"/>
              <a:cs typeface="Tahoma" panose="020B0604030504040204" pitchFamily="34" charset="0"/>
            </a:endParaRPr>
          </a:p>
        </p:txBody>
      </p:sp>
      <p:sp>
        <p:nvSpPr>
          <p:cNvPr id="8" name="TextBox 7">
            <a:extLst>
              <a:ext uri="{FF2B5EF4-FFF2-40B4-BE49-F238E27FC236}">
                <a16:creationId xmlns:a16="http://schemas.microsoft.com/office/drawing/2014/main" id="{0FD0BC76-E7E0-9058-08CB-B3EE19BB7CD5}"/>
              </a:ext>
            </a:extLst>
          </p:cNvPr>
          <p:cNvSpPr txBox="1"/>
          <p:nvPr/>
        </p:nvSpPr>
        <p:spPr>
          <a:xfrm>
            <a:off x="969279" y="1932007"/>
            <a:ext cx="3219450" cy="400110"/>
          </a:xfrm>
          <a:prstGeom prst="rect">
            <a:avLst/>
          </a:prstGeom>
          <a:noFill/>
        </p:spPr>
        <p:txBody>
          <a:bodyPr wrap="square" rtlCol="0">
            <a:spAutoFit/>
          </a:bodyPr>
          <a:lstStyle/>
          <a:p>
            <a:pPr algn="ctr"/>
            <a:r>
              <a:rPr kumimoji="0" lang="el-GR" altLang="el-GR" sz="2000" u="sng"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Gradient Boosting Models</a:t>
            </a:r>
            <a:endParaRPr lang="el-GR" sz="2000" u="sng">
              <a:latin typeface="Tahoma" panose="020B0604030504040204" pitchFamily="34" charset="0"/>
              <a:ea typeface="Tahoma" panose="020B0604030504040204" pitchFamily="34" charset="0"/>
              <a:cs typeface="Tahoma" panose="020B0604030504040204" pitchFamily="34" charset="0"/>
            </a:endParaRPr>
          </a:p>
        </p:txBody>
      </p:sp>
      <p:sp>
        <p:nvSpPr>
          <p:cNvPr id="10" name="TextBox 9">
            <a:extLst>
              <a:ext uri="{FF2B5EF4-FFF2-40B4-BE49-F238E27FC236}">
                <a16:creationId xmlns:a16="http://schemas.microsoft.com/office/drawing/2014/main" id="{9479D94A-5F46-A09C-3703-471CB4E6F7E9}"/>
              </a:ext>
            </a:extLst>
          </p:cNvPr>
          <p:cNvSpPr txBox="1"/>
          <p:nvPr/>
        </p:nvSpPr>
        <p:spPr>
          <a:xfrm>
            <a:off x="8307664" y="1920914"/>
            <a:ext cx="3082402" cy="400110"/>
          </a:xfrm>
          <a:prstGeom prst="rect">
            <a:avLst/>
          </a:prstGeom>
          <a:noFill/>
        </p:spPr>
        <p:txBody>
          <a:bodyPr wrap="square">
            <a:spAutoFit/>
          </a:bodyPr>
          <a:lstStyle/>
          <a:p>
            <a:pPr algn="ctr"/>
            <a:r>
              <a:rPr kumimoji="0" lang="en-US" altLang="el-GR" sz="2000" i="0" u="sng"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Transformer Models</a:t>
            </a:r>
            <a:endParaRPr lang="el-GR" sz="2000" u="sng">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88867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1B8B6-E137-EB2C-1FE3-6FA28BA7F60F}"/>
            </a:ext>
          </a:extLst>
        </p:cNvPr>
        <p:cNvGrpSpPr/>
        <p:nvPr/>
      </p:nvGrpSpPr>
      <p:grpSpPr>
        <a:xfrm>
          <a:off x="0" y="0"/>
          <a:ext cx="0" cy="0"/>
          <a:chOff x="0" y="0"/>
          <a:chExt cx="0" cy="0"/>
        </a:xfrm>
      </p:grpSpPr>
      <p:pic>
        <p:nvPicPr>
          <p:cNvPr id="5" name="Εικόνα 4">
            <a:extLst>
              <a:ext uri="{FF2B5EF4-FFF2-40B4-BE49-F238E27FC236}">
                <a16:creationId xmlns:a16="http://schemas.microsoft.com/office/drawing/2014/main" id="{FB847A09-4EA9-E6F4-A980-0A0577940894}"/>
              </a:ext>
            </a:extLst>
          </p:cNvPr>
          <p:cNvPicPr>
            <a:picLocks noChangeAspect="1"/>
          </p:cNvPicPr>
          <p:nvPr/>
        </p:nvPicPr>
        <p:blipFill>
          <a:blip r:embed="rId3"/>
          <a:stretch>
            <a:fillRect/>
          </a:stretch>
        </p:blipFill>
        <p:spPr>
          <a:xfrm>
            <a:off x="1063549" y="679414"/>
            <a:ext cx="5032451" cy="2749585"/>
          </a:xfrm>
          <a:prstGeom prst="rect">
            <a:avLst/>
          </a:prstGeom>
        </p:spPr>
      </p:pic>
      <p:pic>
        <p:nvPicPr>
          <p:cNvPr id="7" name="Εικόνα 6">
            <a:extLst>
              <a:ext uri="{FF2B5EF4-FFF2-40B4-BE49-F238E27FC236}">
                <a16:creationId xmlns:a16="http://schemas.microsoft.com/office/drawing/2014/main" id="{EACEB2D0-8503-FD20-11B3-3205E8FF48BB}"/>
              </a:ext>
            </a:extLst>
          </p:cNvPr>
          <p:cNvPicPr>
            <a:picLocks noChangeAspect="1"/>
          </p:cNvPicPr>
          <p:nvPr/>
        </p:nvPicPr>
        <p:blipFill>
          <a:blip r:embed="rId4"/>
          <a:stretch>
            <a:fillRect/>
          </a:stretch>
        </p:blipFill>
        <p:spPr>
          <a:xfrm>
            <a:off x="6628225" y="679415"/>
            <a:ext cx="5078106" cy="2749585"/>
          </a:xfrm>
          <a:prstGeom prst="rect">
            <a:avLst/>
          </a:prstGeom>
        </p:spPr>
      </p:pic>
      <p:sp>
        <p:nvSpPr>
          <p:cNvPr id="8" name="TextBox 7">
            <a:extLst>
              <a:ext uri="{FF2B5EF4-FFF2-40B4-BE49-F238E27FC236}">
                <a16:creationId xmlns:a16="http://schemas.microsoft.com/office/drawing/2014/main" id="{9088BECE-1200-3A35-1243-E91FA9E748AC}"/>
              </a:ext>
            </a:extLst>
          </p:cNvPr>
          <p:cNvSpPr txBox="1"/>
          <p:nvPr/>
        </p:nvSpPr>
        <p:spPr>
          <a:xfrm>
            <a:off x="5733825" y="3796"/>
            <a:ext cx="2893925" cy="707886"/>
          </a:xfrm>
          <a:prstGeom prst="rect">
            <a:avLst/>
          </a:prstGeom>
          <a:noFill/>
        </p:spPr>
        <p:txBody>
          <a:bodyPr wrap="square" rtlCol="0">
            <a:spAutoFit/>
          </a:bodyPr>
          <a:lstStyle/>
          <a:p>
            <a:r>
              <a:rPr lang="en-US" sz="4000"/>
              <a:t>GBM</a:t>
            </a:r>
            <a:r>
              <a:rPr lang="en-US"/>
              <a:t> </a:t>
            </a:r>
            <a:endParaRPr lang="el-GR"/>
          </a:p>
        </p:txBody>
      </p:sp>
      <p:graphicFrame>
        <p:nvGraphicFramePr>
          <p:cNvPr id="6" name="Πίνακας 5">
            <a:extLst>
              <a:ext uri="{FF2B5EF4-FFF2-40B4-BE49-F238E27FC236}">
                <a16:creationId xmlns:a16="http://schemas.microsoft.com/office/drawing/2014/main" id="{93CF68ED-E8D4-A9F0-46FD-70BC6122CD0B}"/>
              </a:ext>
            </a:extLst>
          </p:cNvPr>
          <p:cNvGraphicFramePr>
            <a:graphicFrameLocks noGrp="1"/>
          </p:cNvGraphicFramePr>
          <p:nvPr>
            <p:extLst>
              <p:ext uri="{D42A27DB-BD31-4B8C-83A1-F6EECF244321}">
                <p14:modId xmlns:p14="http://schemas.microsoft.com/office/powerpoint/2010/main" val="3407082221"/>
              </p:ext>
            </p:extLst>
          </p:nvPr>
        </p:nvGraphicFramePr>
        <p:xfrm>
          <a:off x="7823200" y="3733799"/>
          <a:ext cx="3883129" cy="1854200"/>
        </p:xfrm>
        <a:graphic>
          <a:graphicData uri="http://schemas.openxmlformats.org/drawingml/2006/table">
            <a:tbl>
              <a:tblPr firstRow="1" bandRow="1">
                <a:tableStyleId>{5C22544A-7EE6-4342-B048-85BDC9FD1C3A}</a:tableStyleId>
              </a:tblPr>
              <a:tblGrid>
                <a:gridCol w="3183467">
                  <a:extLst>
                    <a:ext uri="{9D8B030D-6E8A-4147-A177-3AD203B41FA5}">
                      <a16:colId xmlns:a16="http://schemas.microsoft.com/office/drawing/2014/main" val="2311612959"/>
                    </a:ext>
                  </a:extLst>
                </a:gridCol>
                <a:gridCol w="699662">
                  <a:extLst>
                    <a:ext uri="{9D8B030D-6E8A-4147-A177-3AD203B41FA5}">
                      <a16:colId xmlns:a16="http://schemas.microsoft.com/office/drawing/2014/main" val="78421686"/>
                    </a:ext>
                  </a:extLst>
                </a:gridCol>
              </a:tblGrid>
              <a:tr h="370840">
                <a:tc>
                  <a:txBody>
                    <a:bodyPr/>
                    <a:lstStyle/>
                    <a:p>
                      <a:r>
                        <a:rPr lang="en-US"/>
                        <a:t>Model Performance Metrics</a:t>
                      </a:r>
                      <a:endParaRPr lang="el-GR"/>
                    </a:p>
                  </a:txBody>
                  <a:tcPr/>
                </a:tc>
                <a:tc>
                  <a:txBody>
                    <a:bodyPr/>
                    <a:lstStyle/>
                    <a:p>
                      <a:endParaRPr lang="el-GR"/>
                    </a:p>
                  </a:txBody>
                  <a:tcPr/>
                </a:tc>
                <a:extLst>
                  <a:ext uri="{0D108BD9-81ED-4DB2-BD59-A6C34878D82A}">
                    <a16:rowId xmlns:a16="http://schemas.microsoft.com/office/drawing/2014/main" val="308676009"/>
                  </a:ext>
                </a:extLst>
              </a:tr>
              <a:tr h="370840">
                <a:tc>
                  <a:txBody>
                    <a:bodyPr/>
                    <a:lstStyle/>
                    <a:p>
                      <a:r>
                        <a:rPr lang="en-US"/>
                        <a:t>RMSE</a:t>
                      </a:r>
                      <a:endParaRPr lang="el-GR"/>
                    </a:p>
                  </a:txBody>
                  <a:tcPr/>
                </a:tc>
                <a:tc>
                  <a:txBody>
                    <a:bodyPr/>
                    <a:lstStyle/>
                    <a:p>
                      <a:r>
                        <a:rPr lang="en-US"/>
                        <a:t>8.15</a:t>
                      </a:r>
                      <a:endParaRPr lang="el-GR"/>
                    </a:p>
                  </a:txBody>
                  <a:tcPr/>
                </a:tc>
                <a:extLst>
                  <a:ext uri="{0D108BD9-81ED-4DB2-BD59-A6C34878D82A}">
                    <a16:rowId xmlns:a16="http://schemas.microsoft.com/office/drawing/2014/main" val="3503424036"/>
                  </a:ext>
                </a:extLst>
              </a:tr>
              <a:tr h="370840">
                <a:tc>
                  <a:txBody>
                    <a:bodyPr/>
                    <a:lstStyle/>
                    <a:p>
                      <a:r>
                        <a:rPr lang="en-US"/>
                        <a:t>MAE</a:t>
                      </a:r>
                      <a:endParaRPr lang="el-GR"/>
                    </a:p>
                  </a:txBody>
                  <a:tcPr/>
                </a:tc>
                <a:tc>
                  <a:txBody>
                    <a:bodyPr/>
                    <a:lstStyle/>
                    <a:p>
                      <a:r>
                        <a:rPr lang="en-US"/>
                        <a:t>4.32</a:t>
                      </a:r>
                      <a:endParaRPr lang="el-GR"/>
                    </a:p>
                  </a:txBody>
                  <a:tcPr/>
                </a:tc>
                <a:extLst>
                  <a:ext uri="{0D108BD9-81ED-4DB2-BD59-A6C34878D82A}">
                    <a16:rowId xmlns:a16="http://schemas.microsoft.com/office/drawing/2014/main" val="488890587"/>
                  </a:ext>
                </a:extLst>
              </a:tr>
              <a:tr h="370840">
                <a:tc>
                  <a:txBody>
                    <a:bodyPr/>
                    <a:lstStyle/>
                    <a:p>
                      <a:r>
                        <a:rPr lang="en-US"/>
                        <a:t>MAPE</a:t>
                      </a:r>
                      <a:endParaRPr lang="el-GR"/>
                    </a:p>
                  </a:txBody>
                  <a:tcPr/>
                </a:tc>
                <a:tc>
                  <a:txBody>
                    <a:bodyPr/>
                    <a:lstStyle/>
                    <a:p>
                      <a:r>
                        <a:rPr lang="en-US"/>
                        <a:t>8.22</a:t>
                      </a:r>
                      <a:endParaRPr lang="el-GR"/>
                    </a:p>
                  </a:txBody>
                  <a:tcPr/>
                </a:tc>
                <a:extLst>
                  <a:ext uri="{0D108BD9-81ED-4DB2-BD59-A6C34878D82A}">
                    <a16:rowId xmlns:a16="http://schemas.microsoft.com/office/drawing/2014/main" val="2332519909"/>
                  </a:ext>
                </a:extLst>
              </a:tr>
              <a:tr h="370840">
                <a:tc>
                  <a:txBody>
                    <a:bodyPr/>
                    <a:lstStyle/>
                    <a:p>
                      <a:r>
                        <a:rPr lang="en-US"/>
                        <a:t>R^2</a:t>
                      </a:r>
                      <a:endParaRPr lang="el-GR"/>
                    </a:p>
                  </a:txBody>
                  <a:tcPr/>
                </a:tc>
                <a:tc>
                  <a:txBody>
                    <a:bodyPr/>
                    <a:lstStyle/>
                    <a:p>
                      <a:r>
                        <a:rPr lang="en-US"/>
                        <a:t>0.45</a:t>
                      </a:r>
                      <a:endParaRPr lang="el-GR"/>
                    </a:p>
                  </a:txBody>
                  <a:tcPr/>
                </a:tc>
                <a:extLst>
                  <a:ext uri="{0D108BD9-81ED-4DB2-BD59-A6C34878D82A}">
                    <a16:rowId xmlns:a16="http://schemas.microsoft.com/office/drawing/2014/main" val="292007511"/>
                  </a:ext>
                </a:extLst>
              </a:tr>
            </a:tbl>
          </a:graphicData>
        </a:graphic>
      </p:graphicFrame>
      <p:sp>
        <p:nvSpPr>
          <p:cNvPr id="9" name="TextBox 8">
            <a:extLst>
              <a:ext uri="{FF2B5EF4-FFF2-40B4-BE49-F238E27FC236}">
                <a16:creationId xmlns:a16="http://schemas.microsoft.com/office/drawing/2014/main" id="{B4B96C19-81D0-C404-8E68-82A7C6D6CDF1}"/>
              </a:ext>
            </a:extLst>
          </p:cNvPr>
          <p:cNvSpPr txBox="1"/>
          <p:nvPr/>
        </p:nvSpPr>
        <p:spPr>
          <a:xfrm>
            <a:off x="2698044" y="310082"/>
            <a:ext cx="2201333" cy="369332"/>
          </a:xfrm>
          <a:prstGeom prst="rect">
            <a:avLst/>
          </a:prstGeom>
          <a:noFill/>
        </p:spPr>
        <p:txBody>
          <a:bodyPr wrap="square" rtlCol="0">
            <a:spAutoFit/>
          </a:bodyPr>
          <a:lstStyle/>
          <a:p>
            <a:r>
              <a:rPr lang="en-US"/>
              <a:t>Predicted vs Actual</a:t>
            </a:r>
            <a:endParaRPr lang="el-GR"/>
          </a:p>
        </p:txBody>
      </p:sp>
      <p:sp>
        <p:nvSpPr>
          <p:cNvPr id="10" name="TextBox 9">
            <a:extLst>
              <a:ext uri="{FF2B5EF4-FFF2-40B4-BE49-F238E27FC236}">
                <a16:creationId xmlns:a16="http://schemas.microsoft.com/office/drawing/2014/main" id="{7B2F822F-0104-5064-B2E4-8BEA6E5A494B}"/>
              </a:ext>
            </a:extLst>
          </p:cNvPr>
          <p:cNvSpPr txBox="1"/>
          <p:nvPr/>
        </p:nvSpPr>
        <p:spPr>
          <a:xfrm>
            <a:off x="8612225" y="342350"/>
            <a:ext cx="1984002" cy="369332"/>
          </a:xfrm>
          <a:prstGeom prst="rect">
            <a:avLst/>
          </a:prstGeom>
          <a:noFill/>
        </p:spPr>
        <p:txBody>
          <a:bodyPr wrap="square" rtlCol="0">
            <a:spAutoFit/>
          </a:bodyPr>
          <a:lstStyle/>
          <a:p>
            <a:r>
              <a:rPr lang="en-US"/>
              <a:t>Residual Plot</a:t>
            </a:r>
            <a:endParaRPr lang="el-GR"/>
          </a:p>
        </p:txBody>
      </p:sp>
      <p:sp>
        <p:nvSpPr>
          <p:cNvPr id="11" name="TextBox 10">
            <a:extLst>
              <a:ext uri="{FF2B5EF4-FFF2-40B4-BE49-F238E27FC236}">
                <a16:creationId xmlns:a16="http://schemas.microsoft.com/office/drawing/2014/main" id="{F468A360-4343-8806-6125-B7C51ABD8686}"/>
              </a:ext>
            </a:extLst>
          </p:cNvPr>
          <p:cNvSpPr txBox="1"/>
          <p:nvPr/>
        </p:nvSpPr>
        <p:spPr>
          <a:xfrm>
            <a:off x="1063549" y="3798331"/>
            <a:ext cx="3025424" cy="1200329"/>
          </a:xfrm>
          <a:prstGeom prst="rect">
            <a:avLst/>
          </a:prstGeom>
          <a:noFill/>
        </p:spPr>
        <p:txBody>
          <a:bodyPr wrap="square" rtlCol="0">
            <a:spAutoFit/>
          </a:bodyPr>
          <a:lstStyle/>
          <a:p>
            <a:r>
              <a:rPr lang="en-US" b="1" u="sng"/>
              <a:t>PLOT OBSERVESIONS</a:t>
            </a:r>
          </a:p>
          <a:p>
            <a:pPr marL="285750" indent="-285750">
              <a:buFont typeface="Arial" panose="020B0604020202020204" pitchFamily="34" charset="0"/>
              <a:buChar char="•"/>
            </a:pPr>
            <a:r>
              <a:rPr lang="en-US"/>
              <a:t>No over or under fitting.</a:t>
            </a:r>
          </a:p>
          <a:p>
            <a:pPr marL="285750" indent="-285750">
              <a:buFont typeface="Arial" panose="020B0604020202020204" pitchFamily="34" charset="0"/>
              <a:buChar char="•"/>
            </a:pPr>
            <a:r>
              <a:rPr lang="en-US">
                <a:ea typeface="Tahoma" panose="020B0604030504040204" pitchFamily="34" charset="0"/>
                <a:cs typeface="Times New Roman" panose="02020603050405020304" pitchFamily="18" charset="0"/>
              </a:rPr>
              <a:t>R</a:t>
            </a:r>
            <a:r>
              <a:rPr lang="en-US" sz="1800">
                <a:effectLst/>
                <a:ea typeface="Tahoma" panose="020B0604030504040204" pitchFamily="34" charset="0"/>
                <a:cs typeface="Times New Roman" panose="02020603050405020304" pitchFamily="18" charset="0"/>
              </a:rPr>
              <a:t>easonable ability to follow overall data trends. </a:t>
            </a:r>
            <a:endParaRPr lang="el-GR"/>
          </a:p>
        </p:txBody>
      </p:sp>
    </p:spTree>
    <p:extLst>
      <p:ext uri="{BB962C8B-B14F-4D97-AF65-F5344CB8AC3E}">
        <p14:creationId xmlns:p14="http://schemas.microsoft.com/office/powerpoint/2010/main" val="3130137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Εικόνα 4">
            <a:extLst>
              <a:ext uri="{FF2B5EF4-FFF2-40B4-BE49-F238E27FC236}">
                <a16:creationId xmlns:a16="http://schemas.microsoft.com/office/drawing/2014/main" id="{EEFCCF29-3849-2A0D-9A97-08C90C7FAE87}"/>
              </a:ext>
            </a:extLst>
          </p:cNvPr>
          <p:cNvPicPr>
            <a:picLocks noChangeAspect="1"/>
          </p:cNvPicPr>
          <p:nvPr/>
        </p:nvPicPr>
        <p:blipFill>
          <a:blip r:embed="rId2"/>
          <a:stretch>
            <a:fillRect/>
          </a:stretch>
        </p:blipFill>
        <p:spPr>
          <a:xfrm>
            <a:off x="1253114" y="731539"/>
            <a:ext cx="4976865" cy="2697461"/>
          </a:xfrm>
          <a:prstGeom prst="rect">
            <a:avLst/>
          </a:prstGeom>
        </p:spPr>
      </p:pic>
      <p:pic>
        <p:nvPicPr>
          <p:cNvPr id="7" name="Εικόνα 6">
            <a:extLst>
              <a:ext uri="{FF2B5EF4-FFF2-40B4-BE49-F238E27FC236}">
                <a16:creationId xmlns:a16="http://schemas.microsoft.com/office/drawing/2014/main" id="{A5318926-1DEC-3804-2733-613D8FBCF448}"/>
              </a:ext>
            </a:extLst>
          </p:cNvPr>
          <p:cNvPicPr>
            <a:picLocks noChangeAspect="1"/>
          </p:cNvPicPr>
          <p:nvPr/>
        </p:nvPicPr>
        <p:blipFill>
          <a:blip r:embed="rId3"/>
          <a:stretch>
            <a:fillRect/>
          </a:stretch>
        </p:blipFill>
        <p:spPr>
          <a:xfrm>
            <a:off x="6685290" y="731538"/>
            <a:ext cx="4981842" cy="2697461"/>
          </a:xfrm>
          <a:prstGeom prst="rect">
            <a:avLst/>
          </a:prstGeom>
        </p:spPr>
      </p:pic>
      <p:sp>
        <p:nvSpPr>
          <p:cNvPr id="8" name="TextBox 7">
            <a:extLst>
              <a:ext uri="{FF2B5EF4-FFF2-40B4-BE49-F238E27FC236}">
                <a16:creationId xmlns:a16="http://schemas.microsoft.com/office/drawing/2014/main" id="{C71428D5-1B9F-7FA6-78AC-7BD88CE59924}"/>
              </a:ext>
            </a:extLst>
          </p:cNvPr>
          <p:cNvSpPr txBox="1"/>
          <p:nvPr/>
        </p:nvSpPr>
        <p:spPr>
          <a:xfrm>
            <a:off x="5127592" y="23652"/>
            <a:ext cx="3506874" cy="707886"/>
          </a:xfrm>
          <a:prstGeom prst="rect">
            <a:avLst/>
          </a:prstGeom>
          <a:noFill/>
        </p:spPr>
        <p:txBody>
          <a:bodyPr wrap="square" rtlCol="0">
            <a:spAutoFit/>
          </a:bodyPr>
          <a:lstStyle/>
          <a:p>
            <a:r>
              <a:rPr lang="en-US" sz="4000"/>
              <a:t>XGBOOST</a:t>
            </a:r>
            <a:r>
              <a:rPr lang="en-US"/>
              <a:t> </a:t>
            </a:r>
            <a:endParaRPr lang="el-GR"/>
          </a:p>
        </p:txBody>
      </p:sp>
      <p:graphicFrame>
        <p:nvGraphicFramePr>
          <p:cNvPr id="2" name="Πίνακας 1">
            <a:extLst>
              <a:ext uri="{FF2B5EF4-FFF2-40B4-BE49-F238E27FC236}">
                <a16:creationId xmlns:a16="http://schemas.microsoft.com/office/drawing/2014/main" id="{2FCD8BB7-B1C6-A5A3-2F7F-CC6D3EC3AF6A}"/>
              </a:ext>
            </a:extLst>
          </p:cNvPr>
          <p:cNvGraphicFramePr>
            <a:graphicFrameLocks noGrp="1"/>
          </p:cNvGraphicFramePr>
          <p:nvPr>
            <p:extLst>
              <p:ext uri="{D42A27DB-BD31-4B8C-83A1-F6EECF244321}">
                <p14:modId xmlns:p14="http://schemas.microsoft.com/office/powerpoint/2010/main" val="105240183"/>
              </p:ext>
            </p:extLst>
          </p:nvPr>
        </p:nvGraphicFramePr>
        <p:xfrm>
          <a:off x="7823200" y="3733799"/>
          <a:ext cx="3883129" cy="1854200"/>
        </p:xfrm>
        <a:graphic>
          <a:graphicData uri="http://schemas.openxmlformats.org/drawingml/2006/table">
            <a:tbl>
              <a:tblPr firstRow="1" bandRow="1">
                <a:tableStyleId>{5C22544A-7EE6-4342-B048-85BDC9FD1C3A}</a:tableStyleId>
              </a:tblPr>
              <a:tblGrid>
                <a:gridCol w="3183467">
                  <a:extLst>
                    <a:ext uri="{9D8B030D-6E8A-4147-A177-3AD203B41FA5}">
                      <a16:colId xmlns:a16="http://schemas.microsoft.com/office/drawing/2014/main" val="2311612959"/>
                    </a:ext>
                  </a:extLst>
                </a:gridCol>
                <a:gridCol w="699662">
                  <a:extLst>
                    <a:ext uri="{9D8B030D-6E8A-4147-A177-3AD203B41FA5}">
                      <a16:colId xmlns:a16="http://schemas.microsoft.com/office/drawing/2014/main" val="78421686"/>
                    </a:ext>
                  </a:extLst>
                </a:gridCol>
              </a:tblGrid>
              <a:tr h="370840">
                <a:tc>
                  <a:txBody>
                    <a:bodyPr/>
                    <a:lstStyle/>
                    <a:p>
                      <a:r>
                        <a:rPr lang="en-US"/>
                        <a:t>Model Performance Metrics</a:t>
                      </a:r>
                      <a:endParaRPr lang="el-GR"/>
                    </a:p>
                  </a:txBody>
                  <a:tcPr/>
                </a:tc>
                <a:tc>
                  <a:txBody>
                    <a:bodyPr/>
                    <a:lstStyle/>
                    <a:p>
                      <a:endParaRPr lang="el-GR"/>
                    </a:p>
                  </a:txBody>
                  <a:tcPr/>
                </a:tc>
                <a:extLst>
                  <a:ext uri="{0D108BD9-81ED-4DB2-BD59-A6C34878D82A}">
                    <a16:rowId xmlns:a16="http://schemas.microsoft.com/office/drawing/2014/main" val="308676009"/>
                  </a:ext>
                </a:extLst>
              </a:tr>
              <a:tr h="370840">
                <a:tc>
                  <a:txBody>
                    <a:bodyPr/>
                    <a:lstStyle/>
                    <a:p>
                      <a:r>
                        <a:rPr lang="en-US"/>
                        <a:t>RMSE</a:t>
                      </a:r>
                      <a:endParaRPr lang="el-GR"/>
                    </a:p>
                  </a:txBody>
                  <a:tcPr/>
                </a:tc>
                <a:tc>
                  <a:txBody>
                    <a:bodyPr/>
                    <a:lstStyle/>
                    <a:p>
                      <a:r>
                        <a:rPr lang="en-US"/>
                        <a:t>10.64</a:t>
                      </a:r>
                      <a:endParaRPr lang="el-GR"/>
                    </a:p>
                  </a:txBody>
                  <a:tcPr/>
                </a:tc>
                <a:extLst>
                  <a:ext uri="{0D108BD9-81ED-4DB2-BD59-A6C34878D82A}">
                    <a16:rowId xmlns:a16="http://schemas.microsoft.com/office/drawing/2014/main" val="3503424036"/>
                  </a:ext>
                </a:extLst>
              </a:tr>
              <a:tr h="370840">
                <a:tc>
                  <a:txBody>
                    <a:bodyPr/>
                    <a:lstStyle/>
                    <a:p>
                      <a:r>
                        <a:rPr lang="en-US"/>
                        <a:t>MAE</a:t>
                      </a:r>
                      <a:endParaRPr lang="el-GR"/>
                    </a:p>
                  </a:txBody>
                  <a:tcPr/>
                </a:tc>
                <a:tc>
                  <a:txBody>
                    <a:bodyPr/>
                    <a:lstStyle/>
                    <a:p>
                      <a:r>
                        <a:rPr lang="en-US"/>
                        <a:t>7.17</a:t>
                      </a:r>
                      <a:endParaRPr lang="el-GR"/>
                    </a:p>
                  </a:txBody>
                  <a:tcPr/>
                </a:tc>
                <a:extLst>
                  <a:ext uri="{0D108BD9-81ED-4DB2-BD59-A6C34878D82A}">
                    <a16:rowId xmlns:a16="http://schemas.microsoft.com/office/drawing/2014/main" val="488890587"/>
                  </a:ext>
                </a:extLst>
              </a:tr>
              <a:tr h="370840">
                <a:tc>
                  <a:txBody>
                    <a:bodyPr/>
                    <a:lstStyle/>
                    <a:p>
                      <a:r>
                        <a:rPr lang="en-US"/>
                        <a:t>MAPE</a:t>
                      </a:r>
                      <a:endParaRPr lang="el-GR"/>
                    </a:p>
                  </a:txBody>
                  <a:tcPr/>
                </a:tc>
                <a:tc>
                  <a:txBody>
                    <a:bodyPr/>
                    <a:lstStyle/>
                    <a:p>
                      <a:r>
                        <a:rPr lang="en-US"/>
                        <a:t>14.86</a:t>
                      </a:r>
                      <a:endParaRPr lang="el-GR"/>
                    </a:p>
                  </a:txBody>
                  <a:tcPr/>
                </a:tc>
                <a:extLst>
                  <a:ext uri="{0D108BD9-81ED-4DB2-BD59-A6C34878D82A}">
                    <a16:rowId xmlns:a16="http://schemas.microsoft.com/office/drawing/2014/main" val="2332519909"/>
                  </a:ext>
                </a:extLst>
              </a:tr>
              <a:tr h="370840">
                <a:tc>
                  <a:txBody>
                    <a:bodyPr/>
                    <a:lstStyle/>
                    <a:p>
                      <a:r>
                        <a:rPr lang="en-US"/>
                        <a:t>R^2</a:t>
                      </a:r>
                      <a:endParaRPr lang="el-GR"/>
                    </a:p>
                  </a:txBody>
                  <a:tcPr/>
                </a:tc>
                <a:tc>
                  <a:txBody>
                    <a:bodyPr/>
                    <a:lstStyle/>
                    <a:p>
                      <a:r>
                        <a:rPr lang="en-US"/>
                        <a:t>0.06</a:t>
                      </a:r>
                      <a:endParaRPr lang="el-GR"/>
                    </a:p>
                  </a:txBody>
                  <a:tcPr/>
                </a:tc>
                <a:extLst>
                  <a:ext uri="{0D108BD9-81ED-4DB2-BD59-A6C34878D82A}">
                    <a16:rowId xmlns:a16="http://schemas.microsoft.com/office/drawing/2014/main" val="292007511"/>
                  </a:ext>
                </a:extLst>
              </a:tr>
            </a:tbl>
          </a:graphicData>
        </a:graphic>
      </p:graphicFrame>
      <p:sp>
        <p:nvSpPr>
          <p:cNvPr id="3" name="TextBox 2">
            <a:extLst>
              <a:ext uri="{FF2B5EF4-FFF2-40B4-BE49-F238E27FC236}">
                <a16:creationId xmlns:a16="http://schemas.microsoft.com/office/drawing/2014/main" id="{62821432-1EF8-1514-E5FD-07C4F90F2358}"/>
              </a:ext>
            </a:extLst>
          </p:cNvPr>
          <p:cNvSpPr txBox="1"/>
          <p:nvPr/>
        </p:nvSpPr>
        <p:spPr>
          <a:xfrm>
            <a:off x="2871664" y="398924"/>
            <a:ext cx="2201333" cy="369332"/>
          </a:xfrm>
          <a:prstGeom prst="rect">
            <a:avLst/>
          </a:prstGeom>
          <a:noFill/>
        </p:spPr>
        <p:txBody>
          <a:bodyPr wrap="square" rtlCol="0">
            <a:spAutoFit/>
          </a:bodyPr>
          <a:lstStyle/>
          <a:p>
            <a:r>
              <a:rPr lang="en-US"/>
              <a:t>Predicted vs Actual</a:t>
            </a:r>
            <a:endParaRPr lang="el-GR"/>
          </a:p>
        </p:txBody>
      </p:sp>
      <p:sp>
        <p:nvSpPr>
          <p:cNvPr id="4" name="TextBox 3">
            <a:extLst>
              <a:ext uri="{FF2B5EF4-FFF2-40B4-BE49-F238E27FC236}">
                <a16:creationId xmlns:a16="http://schemas.microsoft.com/office/drawing/2014/main" id="{95C2591A-DAFA-0895-FB6B-7BA0A653A5DF}"/>
              </a:ext>
            </a:extLst>
          </p:cNvPr>
          <p:cNvSpPr txBox="1"/>
          <p:nvPr/>
        </p:nvSpPr>
        <p:spPr>
          <a:xfrm>
            <a:off x="8689062" y="389581"/>
            <a:ext cx="1984002" cy="369332"/>
          </a:xfrm>
          <a:prstGeom prst="rect">
            <a:avLst/>
          </a:prstGeom>
          <a:noFill/>
        </p:spPr>
        <p:txBody>
          <a:bodyPr wrap="square" rtlCol="0">
            <a:spAutoFit/>
          </a:bodyPr>
          <a:lstStyle/>
          <a:p>
            <a:r>
              <a:rPr lang="en-US"/>
              <a:t>Residual Plot</a:t>
            </a:r>
            <a:endParaRPr lang="el-GR"/>
          </a:p>
        </p:txBody>
      </p:sp>
      <p:sp>
        <p:nvSpPr>
          <p:cNvPr id="6" name="TextBox 5">
            <a:extLst>
              <a:ext uri="{FF2B5EF4-FFF2-40B4-BE49-F238E27FC236}">
                <a16:creationId xmlns:a16="http://schemas.microsoft.com/office/drawing/2014/main" id="{E2EC911E-E294-8F67-1740-0B117AB600FD}"/>
              </a:ext>
            </a:extLst>
          </p:cNvPr>
          <p:cNvSpPr txBox="1"/>
          <p:nvPr/>
        </p:nvSpPr>
        <p:spPr>
          <a:xfrm>
            <a:off x="1253114" y="3761615"/>
            <a:ext cx="3025424" cy="1200329"/>
          </a:xfrm>
          <a:prstGeom prst="rect">
            <a:avLst/>
          </a:prstGeom>
          <a:noFill/>
        </p:spPr>
        <p:txBody>
          <a:bodyPr wrap="square" rtlCol="0">
            <a:spAutoFit/>
          </a:bodyPr>
          <a:lstStyle/>
          <a:p>
            <a:r>
              <a:rPr lang="en-US" b="1" u="sng"/>
              <a:t>PLOT OBSERVESIONS</a:t>
            </a:r>
          </a:p>
          <a:p>
            <a:pPr marL="285750" indent="-285750">
              <a:buFont typeface="Arial" panose="020B0604020202020204" pitchFamily="34" charset="0"/>
              <a:buChar char="•"/>
            </a:pPr>
            <a:r>
              <a:rPr lang="en-US"/>
              <a:t>Some Underfitting.</a:t>
            </a:r>
          </a:p>
          <a:p>
            <a:pPr marL="285750" indent="-285750">
              <a:buFont typeface="Arial" panose="020B0604020202020204" pitchFamily="34" charset="0"/>
              <a:buChar char="•"/>
            </a:pPr>
            <a:r>
              <a:rPr lang="en-US"/>
              <a:t> Struggles to fully capture sharp peaks. </a:t>
            </a:r>
            <a:endParaRPr lang="el-GR"/>
          </a:p>
        </p:txBody>
      </p:sp>
    </p:spTree>
    <p:extLst>
      <p:ext uri="{BB962C8B-B14F-4D97-AF65-F5344CB8AC3E}">
        <p14:creationId xmlns:p14="http://schemas.microsoft.com/office/powerpoint/2010/main" val="1279238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BFD69-3EF2-34FC-8456-5928C0A9AA8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70E96B7-FFB3-CEDE-D0F8-8ED45A21594D}"/>
              </a:ext>
            </a:extLst>
          </p:cNvPr>
          <p:cNvSpPr txBox="1"/>
          <p:nvPr/>
        </p:nvSpPr>
        <p:spPr>
          <a:xfrm>
            <a:off x="5900317" y="544"/>
            <a:ext cx="3506874" cy="707886"/>
          </a:xfrm>
          <a:prstGeom prst="rect">
            <a:avLst/>
          </a:prstGeom>
          <a:noFill/>
        </p:spPr>
        <p:txBody>
          <a:bodyPr wrap="square" rtlCol="0">
            <a:spAutoFit/>
          </a:bodyPr>
          <a:lstStyle/>
          <a:p>
            <a:r>
              <a:rPr lang="en-US" sz="4000"/>
              <a:t>LSTM</a:t>
            </a:r>
            <a:endParaRPr lang="el-GR" sz="4000"/>
          </a:p>
        </p:txBody>
      </p:sp>
      <p:pic>
        <p:nvPicPr>
          <p:cNvPr id="3" name="Εικόνα 2">
            <a:extLst>
              <a:ext uri="{FF2B5EF4-FFF2-40B4-BE49-F238E27FC236}">
                <a16:creationId xmlns:a16="http://schemas.microsoft.com/office/drawing/2014/main" id="{3B9D4DB7-CFDA-DFA5-B18F-1A5E7AC7093B}"/>
              </a:ext>
            </a:extLst>
          </p:cNvPr>
          <p:cNvPicPr>
            <a:picLocks noChangeAspect="1"/>
          </p:cNvPicPr>
          <p:nvPr/>
        </p:nvPicPr>
        <p:blipFill>
          <a:blip r:embed="rId2"/>
          <a:stretch>
            <a:fillRect/>
          </a:stretch>
        </p:blipFill>
        <p:spPr>
          <a:xfrm>
            <a:off x="6695282" y="683288"/>
            <a:ext cx="5078308" cy="2745712"/>
          </a:xfrm>
          <a:prstGeom prst="rect">
            <a:avLst/>
          </a:prstGeom>
        </p:spPr>
      </p:pic>
      <p:pic>
        <p:nvPicPr>
          <p:cNvPr id="6" name="Εικόνα 5">
            <a:extLst>
              <a:ext uri="{FF2B5EF4-FFF2-40B4-BE49-F238E27FC236}">
                <a16:creationId xmlns:a16="http://schemas.microsoft.com/office/drawing/2014/main" id="{A4E441AB-58C8-28A8-B33D-0719182859E9}"/>
              </a:ext>
            </a:extLst>
          </p:cNvPr>
          <p:cNvPicPr>
            <a:picLocks noChangeAspect="1"/>
          </p:cNvPicPr>
          <p:nvPr/>
        </p:nvPicPr>
        <p:blipFill>
          <a:blip r:embed="rId3"/>
          <a:stretch>
            <a:fillRect/>
          </a:stretch>
        </p:blipFill>
        <p:spPr>
          <a:xfrm>
            <a:off x="1408078" y="683288"/>
            <a:ext cx="5022890" cy="2745712"/>
          </a:xfrm>
          <a:prstGeom prst="rect">
            <a:avLst/>
          </a:prstGeom>
        </p:spPr>
      </p:pic>
      <p:graphicFrame>
        <p:nvGraphicFramePr>
          <p:cNvPr id="2" name="Πίνακας 1">
            <a:extLst>
              <a:ext uri="{FF2B5EF4-FFF2-40B4-BE49-F238E27FC236}">
                <a16:creationId xmlns:a16="http://schemas.microsoft.com/office/drawing/2014/main" id="{D4823EED-AE11-CDCF-28F9-1B30E86E7DEC}"/>
              </a:ext>
            </a:extLst>
          </p:cNvPr>
          <p:cNvGraphicFramePr>
            <a:graphicFrameLocks noGrp="1"/>
          </p:cNvGraphicFramePr>
          <p:nvPr>
            <p:extLst>
              <p:ext uri="{D42A27DB-BD31-4B8C-83A1-F6EECF244321}">
                <p14:modId xmlns:p14="http://schemas.microsoft.com/office/powerpoint/2010/main" val="4117835788"/>
              </p:ext>
            </p:extLst>
          </p:nvPr>
        </p:nvGraphicFramePr>
        <p:xfrm>
          <a:off x="7823200" y="3733799"/>
          <a:ext cx="3883129" cy="1854200"/>
        </p:xfrm>
        <a:graphic>
          <a:graphicData uri="http://schemas.openxmlformats.org/drawingml/2006/table">
            <a:tbl>
              <a:tblPr firstRow="1" bandRow="1">
                <a:tableStyleId>{5C22544A-7EE6-4342-B048-85BDC9FD1C3A}</a:tableStyleId>
              </a:tblPr>
              <a:tblGrid>
                <a:gridCol w="3183467">
                  <a:extLst>
                    <a:ext uri="{9D8B030D-6E8A-4147-A177-3AD203B41FA5}">
                      <a16:colId xmlns:a16="http://schemas.microsoft.com/office/drawing/2014/main" val="2311612959"/>
                    </a:ext>
                  </a:extLst>
                </a:gridCol>
                <a:gridCol w="699662">
                  <a:extLst>
                    <a:ext uri="{9D8B030D-6E8A-4147-A177-3AD203B41FA5}">
                      <a16:colId xmlns:a16="http://schemas.microsoft.com/office/drawing/2014/main" val="78421686"/>
                    </a:ext>
                  </a:extLst>
                </a:gridCol>
              </a:tblGrid>
              <a:tr h="370840">
                <a:tc>
                  <a:txBody>
                    <a:bodyPr/>
                    <a:lstStyle/>
                    <a:p>
                      <a:r>
                        <a:rPr lang="en-US"/>
                        <a:t>Model Performance Metrics</a:t>
                      </a:r>
                      <a:endParaRPr lang="el-GR"/>
                    </a:p>
                  </a:txBody>
                  <a:tcPr/>
                </a:tc>
                <a:tc>
                  <a:txBody>
                    <a:bodyPr/>
                    <a:lstStyle/>
                    <a:p>
                      <a:endParaRPr lang="el-GR"/>
                    </a:p>
                  </a:txBody>
                  <a:tcPr/>
                </a:tc>
                <a:extLst>
                  <a:ext uri="{0D108BD9-81ED-4DB2-BD59-A6C34878D82A}">
                    <a16:rowId xmlns:a16="http://schemas.microsoft.com/office/drawing/2014/main" val="308676009"/>
                  </a:ext>
                </a:extLst>
              </a:tr>
              <a:tr h="370840">
                <a:tc>
                  <a:txBody>
                    <a:bodyPr/>
                    <a:lstStyle/>
                    <a:p>
                      <a:r>
                        <a:rPr lang="en-US"/>
                        <a:t>RMSE</a:t>
                      </a:r>
                      <a:endParaRPr lang="el-GR"/>
                    </a:p>
                  </a:txBody>
                  <a:tcPr/>
                </a:tc>
                <a:tc>
                  <a:txBody>
                    <a:bodyPr/>
                    <a:lstStyle/>
                    <a:p>
                      <a:r>
                        <a:rPr lang="en-US"/>
                        <a:t>9.67</a:t>
                      </a:r>
                      <a:endParaRPr lang="el-GR"/>
                    </a:p>
                  </a:txBody>
                  <a:tcPr/>
                </a:tc>
                <a:extLst>
                  <a:ext uri="{0D108BD9-81ED-4DB2-BD59-A6C34878D82A}">
                    <a16:rowId xmlns:a16="http://schemas.microsoft.com/office/drawing/2014/main" val="3503424036"/>
                  </a:ext>
                </a:extLst>
              </a:tr>
              <a:tr h="370840">
                <a:tc>
                  <a:txBody>
                    <a:bodyPr/>
                    <a:lstStyle/>
                    <a:p>
                      <a:r>
                        <a:rPr lang="en-US"/>
                        <a:t>MAE</a:t>
                      </a:r>
                      <a:endParaRPr lang="el-GR"/>
                    </a:p>
                  </a:txBody>
                  <a:tcPr/>
                </a:tc>
                <a:tc>
                  <a:txBody>
                    <a:bodyPr/>
                    <a:lstStyle/>
                    <a:p>
                      <a:r>
                        <a:rPr lang="en-US"/>
                        <a:t>7.79</a:t>
                      </a:r>
                      <a:endParaRPr lang="el-GR"/>
                    </a:p>
                  </a:txBody>
                  <a:tcPr/>
                </a:tc>
                <a:extLst>
                  <a:ext uri="{0D108BD9-81ED-4DB2-BD59-A6C34878D82A}">
                    <a16:rowId xmlns:a16="http://schemas.microsoft.com/office/drawing/2014/main" val="488890587"/>
                  </a:ext>
                </a:extLst>
              </a:tr>
              <a:tr h="370840">
                <a:tc>
                  <a:txBody>
                    <a:bodyPr/>
                    <a:lstStyle/>
                    <a:p>
                      <a:r>
                        <a:rPr lang="en-US"/>
                        <a:t>MAPE</a:t>
                      </a:r>
                      <a:endParaRPr lang="el-GR"/>
                    </a:p>
                  </a:txBody>
                  <a:tcPr/>
                </a:tc>
                <a:tc>
                  <a:txBody>
                    <a:bodyPr/>
                    <a:lstStyle/>
                    <a:p>
                      <a:r>
                        <a:rPr lang="en-US"/>
                        <a:t>14.67</a:t>
                      </a:r>
                      <a:endParaRPr lang="el-GR"/>
                    </a:p>
                  </a:txBody>
                  <a:tcPr/>
                </a:tc>
                <a:extLst>
                  <a:ext uri="{0D108BD9-81ED-4DB2-BD59-A6C34878D82A}">
                    <a16:rowId xmlns:a16="http://schemas.microsoft.com/office/drawing/2014/main" val="2332519909"/>
                  </a:ext>
                </a:extLst>
              </a:tr>
              <a:tr h="370840">
                <a:tc>
                  <a:txBody>
                    <a:bodyPr/>
                    <a:lstStyle/>
                    <a:p>
                      <a:r>
                        <a:rPr lang="en-US"/>
                        <a:t>R^2</a:t>
                      </a:r>
                      <a:endParaRPr lang="el-GR"/>
                    </a:p>
                  </a:txBody>
                  <a:tcPr/>
                </a:tc>
                <a:tc>
                  <a:txBody>
                    <a:bodyPr/>
                    <a:lstStyle/>
                    <a:p>
                      <a:r>
                        <a:rPr lang="en-US"/>
                        <a:t>-0.31</a:t>
                      </a:r>
                      <a:endParaRPr lang="el-GR"/>
                    </a:p>
                  </a:txBody>
                  <a:tcPr/>
                </a:tc>
                <a:extLst>
                  <a:ext uri="{0D108BD9-81ED-4DB2-BD59-A6C34878D82A}">
                    <a16:rowId xmlns:a16="http://schemas.microsoft.com/office/drawing/2014/main" val="292007511"/>
                  </a:ext>
                </a:extLst>
              </a:tr>
            </a:tbl>
          </a:graphicData>
        </a:graphic>
      </p:graphicFrame>
      <p:sp>
        <p:nvSpPr>
          <p:cNvPr id="4" name="TextBox 3">
            <a:extLst>
              <a:ext uri="{FF2B5EF4-FFF2-40B4-BE49-F238E27FC236}">
                <a16:creationId xmlns:a16="http://schemas.microsoft.com/office/drawing/2014/main" id="{3E7F0C35-09DA-44F6-5931-89D8611DD70E}"/>
              </a:ext>
            </a:extLst>
          </p:cNvPr>
          <p:cNvSpPr txBox="1"/>
          <p:nvPr/>
        </p:nvSpPr>
        <p:spPr>
          <a:xfrm>
            <a:off x="2975578" y="339098"/>
            <a:ext cx="2201333" cy="369332"/>
          </a:xfrm>
          <a:prstGeom prst="rect">
            <a:avLst/>
          </a:prstGeom>
          <a:noFill/>
        </p:spPr>
        <p:txBody>
          <a:bodyPr wrap="square" rtlCol="0">
            <a:spAutoFit/>
          </a:bodyPr>
          <a:lstStyle/>
          <a:p>
            <a:r>
              <a:rPr lang="en-US"/>
              <a:t>Predicted vs Actual</a:t>
            </a:r>
            <a:endParaRPr lang="el-GR"/>
          </a:p>
        </p:txBody>
      </p:sp>
      <p:sp>
        <p:nvSpPr>
          <p:cNvPr id="5" name="TextBox 4">
            <a:extLst>
              <a:ext uri="{FF2B5EF4-FFF2-40B4-BE49-F238E27FC236}">
                <a16:creationId xmlns:a16="http://schemas.microsoft.com/office/drawing/2014/main" id="{4C44E7A0-CFE7-548B-A461-F80C5D34C9CB}"/>
              </a:ext>
            </a:extLst>
          </p:cNvPr>
          <p:cNvSpPr txBox="1"/>
          <p:nvPr/>
        </p:nvSpPr>
        <p:spPr>
          <a:xfrm>
            <a:off x="8612225" y="342350"/>
            <a:ext cx="1984002" cy="369332"/>
          </a:xfrm>
          <a:prstGeom prst="rect">
            <a:avLst/>
          </a:prstGeom>
          <a:noFill/>
        </p:spPr>
        <p:txBody>
          <a:bodyPr wrap="square" rtlCol="0">
            <a:spAutoFit/>
          </a:bodyPr>
          <a:lstStyle/>
          <a:p>
            <a:r>
              <a:rPr lang="en-US"/>
              <a:t>Residual Plot</a:t>
            </a:r>
            <a:endParaRPr lang="el-GR"/>
          </a:p>
        </p:txBody>
      </p:sp>
      <p:sp>
        <p:nvSpPr>
          <p:cNvPr id="7" name="TextBox 6">
            <a:extLst>
              <a:ext uri="{FF2B5EF4-FFF2-40B4-BE49-F238E27FC236}">
                <a16:creationId xmlns:a16="http://schemas.microsoft.com/office/drawing/2014/main" id="{22967393-FBBB-7C22-2D08-F6E1DAD2AC3F}"/>
              </a:ext>
            </a:extLst>
          </p:cNvPr>
          <p:cNvSpPr txBox="1"/>
          <p:nvPr/>
        </p:nvSpPr>
        <p:spPr>
          <a:xfrm>
            <a:off x="1408078" y="3837748"/>
            <a:ext cx="4167406" cy="1754326"/>
          </a:xfrm>
          <a:prstGeom prst="rect">
            <a:avLst/>
          </a:prstGeom>
          <a:noFill/>
        </p:spPr>
        <p:txBody>
          <a:bodyPr wrap="square" rtlCol="0">
            <a:spAutoFit/>
          </a:bodyPr>
          <a:lstStyle/>
          <a:p>
            <a:r>
              <a:rPr lang="en-US" b="1" u="sng"/>
              <a:t>PLOT OBSERVESIONS</a:t>
            </a:r>
          </a:p>
          <a:p>
            <a:pPr marL="285750" indent="-285750">
              <a:buFont typeface="Arial" panose="020B0604020202020204" pitchFamily="34" charset="0"/>
              <a:buChar char="•"/>
            </a:pPr>
            <a:r>
              <a:rPr lang="en-US"/>
              <a:t>The LSTM model is underfitting the data.</a:t>
            </a:r>
          </a:p>
          <a:p>
            <a:pPr marL="285750" indent="-285750">
              <a:buFont typeface="Arial" panose="020B0604020202020204" pitchFamily="34" charset="0"/>
              <a:buChar char="•"/>
            </a:pPr>
            <a:r>
              <a:rPr lang="en-US"/>
              <a:t> While it captures the general mean value, it fails to follow the actual fluctuations and extreme values.</a:t>
            </a:r>
            <a:endParaRPr lang="en-US" u="sng"/>
          </a:p>
        </p:txBody>
      </p:sp>
    </p:spTree>
    <p:extLst>
      <p:ext uri="{BB962C8B-B14F-4D97-AF65-F5344CB8AC3E}">
        <p14:creationId xmlns:p14="http://schemas.microsoft.com/office/powerpoint/2010/main" val="1599814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a:extLst>
            <a:ext uri="{FF2B5EF4-FFF2-40B4-BE49-F238E27FC236}">
              <a16:creationId xmlns:a16="http://schemas.microsoft.com/office/drawing/2014/main" id="{22B669B6-FA5A-9015-B7A7-21E61C724904}"/>
            </a:ext>
          </a:extLst>
        </p:cNvPr>
        <p:cNvGrpSpPr/>
        <p:nvPr/>
      </p:nvGrpSpPr>
      <p:grpSpPr>
        <a:xfrm>
          <a:off x="0" y="0"/>
          <a:ext cx="0" cy="0"/>
          <a:chOff x="0" y="0"/>
          <a:chExt cx="0" cy="0"/>
        </a:xfrm>
      </p:grpSpPr>
      <p:pic>
        <p:nvPicPr>
          <p:cNvPr id="5" name="Εικόνα 4">
            <a:extLst>
              <a:ext uri="{FF2B5EF4-FFF2-40B4-BE49-F238E27FC236}">
                <a16:creationId xmlns:a16="http://schemas.microsoft.com/office/drawing/2014/main" id="{E77D78F6-B279-F5BB-F50E-3A8716182C71}"/>
              </a:ext>
            </a:extLst>
          </p:cNvPr>
          <p:cNvPicPr>
            <a:picLocks noChangeAspect="1"/>
          </p:cNvPicPr>
          <p:nvPr/>
        </p:nvPicPr>
        <p:blipFill>
          <a:blip r:embed="rId2"/>
          <a:stretch>
            <a:fillRect/>
          </a:stretch>
        </p:blipFill>
        <p:spPr>
          <a:xfrm>
            <a:off x="1351505" y="683288"/>
            <a:ext cx="5025362" cy="2745712"/>
          </a:xfrm>
          <a:prstGeom prst="rect">
            <a:avLst/>
          </a:prstGeom>
        </p:spPr>
      </p:pic>
      <p:pic>
        <p:nvPicPr>
          <p:cNvPr id="7" name="Εικόνα 6">
            <a:extLst>
              <a:ext uri="{FF2B5EF4-FFF2-40B4-BE49-F238E27FC236}">
                <a16:creationId xmlns:a16="http://schemas.microsoft.com/office/drawing/2014/main" id="{724875FB-1C98-0A57-C2B5-1291DBC83247}"/>
              </a:ext>
            </a:extLst>
          </p:cNvPr>
          <p:cNvPicPr>
            <a:picLocks noChangeAspect="1"/>
          </p:cNvPicPr>
          <p:nvPr/>
        </p:nvPicPr>
        <p:blipFill>
          <a:blip r:embed="rId3"/>
          <a:stretch>
            <a:fillRect/>
          </a:stretch>
        </p:blipFill>
        <p:spPr>
          <a:xfrm>
            <a:off x="6808399" y="683288"/>
            <a:ext cx="5070955" cy="2745712"/>
          </a:xfrm>
          <a:prstGeom prst="rect">
            <a:avLst/>
          </a:prstGeom>
        </p:spPr>
      </p:pic>
      <p:sp>
        <p:nvSpPr>
          <p:cNvPr id="8" name="TextBox 7">
            <a:extLst>
              <a:ext uri="{FF2B5EF4-FFF2-40B4-BE49-F238E27FC236}">
                <a16:creationId xmlns:a16="http://schemas.microsoft.com/office/drawing/2014/main" id="{A83196A3-353E-25C7-1ED5-F0F3FBB3B9AB}"/>
              </a:ext>
            </a:extLst>
          </p:cNvPr>
          <p:cNvSpPr txBox="1"/>
          <p:nvPr/>
        </p:nvSpPr>
        <p:spPr>
          <a:xfrm>
            <a:off x="5956875" y="24546"/>
            <a:ext cx="3506874" cy="707886"/>
          </a:xfrm>
          <a:prstGeom prst="rect">
            <a:avLst/>
          </a:prstGeom>
          <a:noFill/>
        </p:spPr>
        <p:txBody>
          <a:bodyPr wrap="square" rtlCol="0">
            <a:spAutoFit/>
          </a:bodyPr>
          <a:lstStyle/>
          <a:p>
            <a:r>
              <a:rPr lang="en-US" sz="4000"/>
              <a:t>GRU</a:t>
            </a:r>
            <a:endParaRPr lang="el-GR" sz="4000"/>
          </a:p>
        </p:txBody>
      </p:sp>
      <p:graphicFrame>
        <p:nvGraphicFramePr>
          <p:cNvPr id="2" name="Πίνακας 1">
            <a:extLst>
              <a:ext uri="{FF2B5EF4-FFF2-40B4-BE49-F238E27FC236}">
                <a16:creationId xmlns:a16="http://schemas.microsoft.com/office/drawing/2014/main" id="{7EE8D99D-2B1C-3456-53BB-989FFD5CAACB}"/>
              </a:ext>
            </a:extLst>
          </p:cNvPr>
          <p:cNvGraphicFramePr>
            <a:graphicFrameLocks noGrp="1"/>
          </p:cNvGraphicFramePr>
          <p:nvPr>
            <p:extLst>
              <p:ext uri="{D42A27DB-BD31-4B8C-83A1-F6EECF244321}">
                <p14:modId xmlns:p14="http://schemas.microsoft.com/office/powerpoint/2010/main" val="468476667"/>
              </p:ext>
            </p:extLst>
          </p:nvPr>
        </p:nvGraphicFramePr>
        <p:xfrm>
          <a:off x="7823200" y="3733799"/>
          <a:ext cx="3883129" cy="1854200"/>
        </p:xfrm>
        <a:graphic>
          <a:graphicData uri="http://schemas.openxmlformats.org/drawingml/2006/table">
            <a:tbl>
              <a:tblPr firstRow="1" bandRow="1">
                <a:tableStyleId>{5C22544A-7EE6-4342-B048-85BDC9FD1C3A}</a:tableStyleId>
              </a:tblPr>
              <a:tblGrid>
                <a:gridCol w="3183467">
                  <a:extLst>
                    <a:ext uri="{9D8B030D-6E8A-4147-A177-3AD203B41FA5}">
                      <a16:colId xmlns:a16="http://schemas.microsoft.com/office/drawing/2014/main" val="2311612959"/>
                    </a:ext>
                  </a:extLst>
                </a:gridCol>
                <a:gridCol w="699662">
                  <a:extLst>
                    <a:ext uri="{9D8B030D-6E8A-4147-A177-3AD203B41FA5}">
                      <a16:colId xmlns:a16="http://schemas.microsoft.com/office/drawing/2014/main" val="78421686"/>
                    </a:ext>
                  </a:extLst>
                </a:gridCol>
              </a:tblGrid>
              <a:tr h="370840">
                <a:tc>
                  <a:txBody>
                    <a:bodyPr/>
                    <a:lstStyle/>
                    <a:p>
                      <a:r>
                        <a:rPr lang="en-US"/>
                        <a:t>Model Performance Metrics</a:t>
                      </a:r>
                      <a:endParaRPr lang="el-GR"/>
                    </a:p>
                  </a:txBody>
                  <a:tcPr/>
                </a:tc>
                <a:tc>
                  <a:txBody>
                    <a:bodyPr/>
                    <a:lstStyle/>
                    <a:p>
                      <a:endParaRPr lang="el-GR"/>
                    </a:p>
                  </a:txBody>
                  <a:tcPr/>
                </a:tc>
                <a:extLst>
                  <a:ext uri="{0D108BD9-81ED-4DB2-BD59-A6C34878D82A}">
                    <a16:rowId xmlns:a16="http://schemas.microsoft.com/office/drawing/2014/main" val="308676009"/>
                  </a:ext>
                </a:extLst>
              </a:tr>
              <a:tr h="370840">
                <a:tc>
                  <a:txBody>
                    <a:bodyPr/>
                    <a:lstStyle/>
                    <a:p>
                      <a:r>
                        <a:rPr lang="en-US"/>
                        <a:t>RMSE</a:t>
                      </a:r>
                      <a:endParaRPr lang="el-GR"/>
                    </a:p>
                  </a:txBody>
                  <a:tcPr/>
                </a:tc>
                <a:tc>
                  <a:txBody>
                    <a:bodyPr/>
                    <a:lstStyle/>
                    <a:p>
                      <a:r>
                        <a:rPr lang="en-US"/>
                        <a:t>9.70</a:t>
                      </a:r>
                      <a:endParaRPr lang="el-GR"/>
                    </a:p>
                  </a:txBody>
                  <a:tcPr/>
                </a:tc>
                <a:extLst>
                  <a:ext uri="{0D108BD9-81ED-4DB2-BD59-A6C34878D82A}">
                    <a16:rowId xmlns:a16="http://schemas.microsoft.com/office/drawing/2014/main" val="3503424036"/>
                  </a:ext>
                </a:extLst>
              </a:tr>
              <a:tr h="370840">
                <a:tc>
                  <a:txBody>
                    <a:bodyPr/>
                    <a:lstStyle/>
                    <a:p>
                      <a:r>
                        <a:rPr lang="en-US"/>
                        <a:t>MAE</a:t>
                      </a:r>
                      <a:endParaRPr lang="el-GR"/>
                    </a:p>
                  </a:txBody>
                  <a:tcPr/>
                </a:tc>
                <a:tc>
                  <a:txBody>
                    <a:bodyPr/>
                    <a:lstStyle/>
                    <a:p>
                      <a:r>
                        <a:rPr lang="en-US"/>
                        <a:t>7.68</a:t>
                      </a:r>
                      <a:endParaRPr lang="el-GR"/>
                    </a:p>
                  </a:txBody>
                  <a:tcPr/>
                </a:tc>
                <a:extLst>
                  <a:ext uri="{0D108BD9-81ED-4DB2-BD59-A6C34878D82A}">
                    <a16:rowId xmlns:a16="http://schemas.microsoft.com/office/drawing/2014/main" val="488890587"/>
                  </a:ext>
                </a:extLst>
              </a:tr>
              <a:tr h="370840">
                <a:tc>
                  <a:txBody>
                    <a:bodyPr/>
                    <a:lstStyle/>
                    <a:p>
                      <a:r>
                        <a:rPr lang="en-US"/>
                        <a:t>MAPE</a:t>
                      </a:r>
                      <a:endParaRPr lang="el-GR"/>
                    </a:p>
                  </a:txBody>
                  <a:tcPr/>
                </a:tc>
                <a:tc>
                  <a:txBody>
                    <a:bodyPr/>
                    <a:lstStyle/>
                    <a:p>
                      <a:r>
                        <a:rPr lang="en-US"/>
                        <a:t>16.48</a:t>
                      </a:r>
                      <a:endParaRPr lang="el-GR"/>
                    </a:p>
                  </a:txBody>
                  <a:tcPr/>
                </a:tc>
                <a:extLst>
                  <a:ext uri="{0D108BD9-81ED-4DB2-BD59-A6C34878D82A}">
                    <a16:rowId xmlns:a16="http://schemas.microsoft.com/office/drawing/2014/main" val="2332519909"/>
                  </a:ext>
                </a:extLst>
              </a:tr>
              <a:tr h="370840">
                <a:tc>
                  <a:txBody>
                    <a:bodyPr/>
                    <a:lstStyle/>
                    <a:p>
                      <a:r>
                        <a:rPr lang="en-US"/>
                        <a:t>R^2</a:t>
                      </a:r>
                      <a:endParaRPr lang="el-GR"/>
                    </a:p>
                  </a:txBody>
                  <a:tcPr/>
                </a:tc>
                <a:tc>
                  <a:txBody>
                    <a:bodyPr/>
                    <a:lstStyle/>
                    <a:p>
                      <a:r>
                        <a:rPr lang="en-US"/>
                        <a:t>-0.03</a:t>
                      </a:r>
                      <a:endParaRPr lang="el-GR"/>
                    </a:p>
                  </a:txBody>
                  <a:tcPr/>
                </a:tc>
                <a:extLst>
                  <a:ext uri="{0D108BD9-81ED-4DB2-BD59-A6C34878D82A}">
                    <a16:rowId xmlns:a16="http://schemas.microsoft.com/office/drawing/2014/main" val="292007511"/>
                  </a:ext>
                </a:extLst>
              </a:tr>
            </a:tbl>
          </a:graphicData>
        </a:graphic>
      </p:graphicFrame>
      <p:sp>
        <p:nvSpPr>
          <p:cNvPr id="4" name="TextBox 3">
            <a:extLst>
              <a:ext uri="{FF2B5EF4-FFF2-40B4-BE49-F238E27FC236}">
                <a16:creationId xmlns:a16="http://schemas.microsoft.com/office/drawing/2014/main" id="{262FE331-FA94-67CE-94C0-3CFF6AF6F2F8}"/>
              </a:ext>
            </a:extLst>
          </p:cNvPr>
          <p:cNvSpPr txBox="1"/>
          <p:nvPr/>
        </p:nvSpPr>
        <p:spPr>
          <a:xfrm>
            <a:off x="2698044" y="310082"/>
            <a:ext cx="2201333" cy="369332"/>
          </a:xfrm>
          <a:prstGeom prst="rect">
            <a:avLst/>
          </a:prstGeom>
          <a:noFill/>
        </p:spPr>
        <p:txBody>
          <a:bodyPr wrap="square" rtlCol="0">
            <a:spAutoFit/>
          </a:bodyPr>
          <a:lstStyle/>
          <a:p>
            <a:r>
              <a:rPr lang="en-US"/>
              <a:t>Predicted vs Actual</a:t>
            </a:r>
            <a:endParaRPr lang="el-GR"/>
          </a:p>
        </p:txBody>
      </p:sp>
      <p:sp>
        <p:nvSpPr>
          <p:cNvPr id="6" name="TextBox 5">
            <a:extLst>
              <a:ext uri="{FF2B5EF4-FFF2-40B4-BE49-F238E27FC236}">
                <a16:creationId xmlns:a16="http://schemas.microsoft.com/office/drawing/2014/main" id="{38B44671-FE7D-9F9B-0EA9-77F5039614C2}"/>
              </a:ext>
            </a:extLst>
          </p:cNvPr>
          <p:cNvSpPr txBox="1"/>
          <p:nvPr/>
        </p:nvSpPr>
        <p:spPr>
          <a:xfrm>
            <a:off x="8612225" y="342350"/>
            <a:ext cx="1984002" cy="369332"/>
          </a:xfrm>
          <a:prstGeom prst="rect">
            <a:avLst/>
          </a:prstGeom>
          <a:noFill/>
        </p:spPr>
        <p:txBody>
          <a:bodyPr wrap="square" rtlCol="0">
            <a:spAutoFit/>
          </a:bodyPr>
          <a:lstStyle/>
          <a:p>
            <a:r>
              <a:rPr lang="en-US"/>
              <a:t>Residual Plot</a:t>
            </a:r>
            <a:endParaRPr lang="el-GR"/>
          </a:p>
        </p:txBody>
      </p:sp>
      <p:sp>
        <p:nvSpPr>
          <p:cNvPr id="9" name="TextBox 8">
            <a:extLst>
              <a:ext uri="{FF2B5EF4-FFF2-40B4-BE49-F238E27FC236}">
                <a16:creationId xmlns:a16="http://schemas.microsoft.com/office/drawing/2014/main" id="{98E9888E-35B5-CE65-A305-F282AFDCAAB3}"/>
              </a:ext>
            </a:extLst>
          </p:cNvPr>
          <p:cNvSpPr txBox="1"/>
          <p:nvPr/>
        </p:nvSpPr>
        <p:spPr>
          <a:xfrm>
            <a:off x="1351505" y="3770976"/>
            <a:ext cx="3025424" cy="1754326"/>
          </a:xfrm>
          <a:prstGeom prst="rect">
            <a:avLst/>
          </a:prstGeom>
          <a:noFill/>
        </p:spPr>
        <p:txBody>
          <a:bodyPr wrap="square" rtlCol="0">
            <a:spAutoFit/>
          </a:bodyPr>
          <a:lstStyle/>
          <a:p>
            <a:r>
              <a:rPr lang="en-US" b="1" u="sng"/>
              <a:t>PLOT OBSERVESIONS</a:t>
            </a:r>
          </a:p>
          <a:p>
            <a:pPr marL="285750" indent="-285750">
              <a:buFont typeface="Arial" panose="020B0604020202020204" pitchFamily="34" charset="0"/>
              <a:buChar char="•"/>
            </a:pPr>
            <a:r>
              <a:rPr lang="en-US"/>
              <a:t>Underfitting.</a:t>
            </a:r>
          </a:p>
          <a:p>
            <a:pPr marL="285750" indent="-285750">
              <a:buFont typeface="Arial" panose="020B0604020202020204" pitchFamily="34" charset="0"/>
              <a:buChar char="•"/>
            </a:pPr>
            <a:r>
              <a:rPr lang="en-US"/>
              <a:t>Shows better alignment with fluctuating patterns.</a:t>
            </a:r>
          </a:p>
          <a:p>
            <a:pPr marL="285750" indent="-285750">
              <a:buFont typeface="Arial" panose="020B0604020202020204" pitchFamily="34" charset="0"/>
              <a:buChar char="•"/>
            </a:pPr>
            <a:r>
              <a:rPr lang="en-US"/>
              <a:t>Struggles with extreme values and rapid changes.</a:t>
            </a:r>
            <a:endParaRPr lang="el-GR"/>
          </a:p>
        </p:txBody>
      </p:sp>
    </p:spTree>
    <p:extLst>
      <p:ext uri="{BB962C8B-B14F-4D97-AF65-F5344CB8AC3E}">
        <p14:creationId xmlns:p14="http://schemas.microsoft.com/office/powerpoint/2010/main" val="16410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615B7-6647-C373-0F8C-EB136A67D9A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01CA08A-3167-49BC-9CD0-4E0F40B64516}"/>
              </a:ext>
            </a:extLst>
          </p:cNvPr>
          <p:cNvSpPr txBox="1"/>
          <p:nvPr/>
        </p:nvSpPr>
        <p:spPr>
          <a:xfrm>
            <a:off x="5927005" y="0"/>
            <a:ext cx="3506874" cy="707886"/>
          </a:xfrm>
          <a:prstGeom prst="rect">
            <a:avLst/>
          </a:prstGeom>
          <a:noFill/>
        </p:spPr>
        <p:txBody>
          <a:bodyPr wrap="square" rtlCol="0">
            <a:spAutoFit/>
          </a:bodyPr>
          <a:lstStyle/>
          <a:p>
            <a:r>
              <a:rPr lang="en-US" sz="4000"/>
              <a:t>CNN</a:t>
            </a:r>
            <a:endParaRPr lang="el-GR" sz="4000"/>
          </a:p>
        </p:txBody>
      </p:sp>
      <p:pic>
        <p:nvPicPr>
          <p:cNvPr id="10" name="Εικόνα 9">
            <a:extLst>
              <a:ext uri="{FF2B5EF4-FFF2-40B4-BE49-F238E27FC236}">
                <a16:creationId xmlns:a16="http://schemas.microsoft.com/office/drawing/2014/main" id="{1BB2DCE3-8B62-852B-C4FB-37C9F23C6C64}"/>
              </a:ext>
            </a:extLst>
          </p:cNvPr>
          <p:cNvPicPr>
            <a:picLocks noChangeAspect="1"/>
          </p:cNvPicPr>
          <p:nvPr/>
        </p:nvPicPr>
        <p:blipFill>
          <a:blip r:embed="rId2"/>
          <a:stretch>
            <a:fillRect/>
          </a:stretch>
        </p:blipFill>
        <p:spPr>
          <a:xfrm>
            <a:off x="1414463" y="679313"/>
            <a:ext cx="5022890" cy="2745712"/>
          </a:xfrm>
          <a:prstGeom prst="rect">
            <a:avLst/>
          </a:prstGeom>
        </p:spPr>
      </p:pic>
      <p:pic>
        <p:nvPicPr>
          <p:cNvPr id="12" name="Εικόνα 11">
            <a:extLst>
              <a:ext uri="{FF2B5EF4-FFF2-40B4-BE49-F238E27FC236}">
                <a16:creationId xmlns:a16="http://schemas.microsoft.com/office/drawing/2014/main" id="{446EAB31-55DE-7A91-4EA1-0348F68B1924}"/>
              </a:ext>
            </a:extLst>
          </p:cNvPr>
          <p:cNvPicPr>
            <a:picLocks noChangeAspect="1"/>
          </p:cNvPicPr>
          <p:nvPr/>
        </p:nvPicPr>
        <p:blipFill>
          <a:blip r:embed="rId3"/>
          <a:stretch>
            <a:fillRect/>
          </a:stretch>
        </p:blipFill>
        <p:spPr>
          <a:xfrm>
            <a:off x="6762944" y="679312"/>
            <a:ext cx="5078310" cy="2745713"/>
          </a:xfrm>
          <a:prstGeom prst="rect">
            <a:avLst/>
          </a:prstGeom>
        </p:spPr>
      </p:pic>
      <p:graphicFrame>
        <p:nvGraphicFramePr>
          <p:cNvPr id="2" name="Πίνακας 1">
            <a:extLst>
              <a:ext uri="{FF2B5EF4-FFF2-40B4-BE49-F238E27FC236}">
                <a16:creationId xmlns:a16="http://schemas.microsoft.com/office/drawing/2014/main" id="{709BB358-E122-6EEB-0513-C5A56000E519}"/>
              </a:ext>
            </a:extLst>
          </p:cNvPr>
          <p:cNvGraphicFramePr>
            <a:graphicFrameLocks noGrp="1"/>
          </p:cNvGraphicFramePr>
          <p:nvPr>
            <p:extLst>
              <p:ext uri="{D42A27DB-BD31-4B8C-83A1-F6EECF244321}">
                <p14:modId xmlns:p14="http://schemas.microsoft.com/office/powerpoint/2010/main" val="182425518"/>
              </p:ext>
            </p:extLst>
          </p:nvPr>
        </p:nvGraphicFramePr>
        <p:xfrm>
          <a:off x="7823200" y="3733799"/>
          <a:ext cx="3883129" cy="1854200"/>
        </p:xfrm>
        <a:graphic>
          <a:graphicData uri="http://schemas.openxmlformats.org/drawingml/2006/table">
            <a:tbl>
              <a:tblPr firstRow="1" bandRow="1">
                <a:tableStyleId>{5C22544A-7EE6-4342-B048-85BDC9FD1C3A}</a:tableStyleId>
              </a:tblPr>
              <a:tblGrid>
                <a:gridCol w="3183467">
                  <a:extLst>
                    <a:ext uri="{9D8B030D-6E8A-4147-A177-3AD203B41FA5}">
                      <a16:colId xmlns:a16="http://schemas.microsoft.com/office/drawing/2014/main" val="2311612959"/>
                    </a:ext>
                  </a:extLst>
                </a:gridCol>
                <a:gridCol w="699662">
                  <a:extLst>
                    <a:ext uri="{9D8B030D-6E8A-4147-A177-3AD203B41FA5}">
                      <a16:colId xmlns:a16="http://schemas.microsoft.com/office/drawing/2014/main" val="78421686"/>
                    </a:ext>
                  </a:extLst>
                </a:gridCol>
              </a:tblGrid>
              <a:tr h="370840">
                <a:tc>
                  <a:txBody>
                    <a:bodyPr/>
                    <a:lstStyle/>
                    <a:p>
                      <a:r>
                        <a:rPr lang="en-US"/>
                        <a:t>Model Performance Metrics</a:t>
                      </a:r>
                      <a:endParaRPr lang="el-GR"/>
                    </a:p>
                  </a:txBody>
                  <a:tcPr/>
                </a:tc>
                <a:tc>
                  <a:txBody>
                    <a:bodyPr/>
                    <a:lstStyle/>
                    <a:p>
                      <a:endParaRPr lang="el-GR"/>
                    </a:p>
                  </a:txBody>
                  <a:tcPr/>
                </a:tc>
                <a:extLst>
                  <a:ext uri="{0D108BD9-81ED-4DB2-BD59-A6C34878D82A}">
                    <a16:rowId xmlns:a16="http://schemas.microsoft.com/office/drawing/2014/main" val="308676009"/>
                  </a:ext>
                </a:extLst>
              </a:tr>
              <a:tr h="370840">
                <a:tc>
                  <a:txBody>
                    <a:bodyPr/>
                    <a:lstStyle/>
                    <a:p>
                      <a:r>
                        <a:rPr lang="en-US"/>
                        <a:t>RMSE</a:t>
                      </a:r>
                      <a:endParaRPr lang="el-GR"/>
                    </a:p>
                  </a:txBody>
                  <a:tcPr/>
                </a:tc>
                <a:tc>
                  <a:txBody>
                    <a:bodyPr/>
                    <a:lstStyle/>
                    <a:p>
                      <a:r>
                        <a:rPr lang="en-US"/>
                        <a:t>13.03</a:t>
                      </a:r>
                      <a:endParaRPr lang="el-GR"/>
                    </a:p>
                  </a:txBody>
                  <a:tcPr/>
                </a:tc>
                <a:extLst>
                  <a:ext uri="{0D108BD9-81ED-4DB2-BD59-A6C34878D82A}">
                    <a16:rowId xmlns:a16="http://schemas.microsoft.com/office/drawing/2014/main" val="3503424036"/>
                  </a:ext>
                </a:extLst>
              </a:tr>
              <a:tr h="370840">
                <a:tc>
                  <a:txBody>
                    <a:bodyPr/>
                    <a:lstStyle/>
                    <a:p>
                      <a:r>
                        <a:rPr lang="en-US"/>
                        <a:t>MAE</a:t>
                      </a:r>
                      <a:endParaRPr lang="el-GR"/>
                    </a:p>
                  </a:txBody>
                  <a:tcPr/>
                </a:tc>
                <a:tc>
                  <a:txBody>
                    <a:bodyPr/>
                    <a:lstStyle/>
                    <a:p>
                      <a:r>
                        <a:rPr lang="en-US"/>
                        <a:t>10.20</a:t>
                      </a:r>
                      <a:endParaRPr lang="el-GR"/>
                    </a:p>
                  </a:txBody>
                  <a:tcPr/>
                </a:tc>
                <a:extLst>
                  <a:ext uri="{0D108BD9-81ED-4DB2-BD59-A6C34878D82A}">
                    <a16:rowId xmlns:a16="http://schemas.microsoft.com/office/drawing/2014/main" val="488890587"/>
                  </a:ext>
                </a:extLst>
              </a:tr>
              <a:tr h="370840">
                <a:tc>
                  <a:txBody>
                    <a:bodyPr/>
                    <a:lstStyle/>
                    <a:p>
                      <a:r>
                        <a:rPr lang="en-US"/>
                        <a:t>MAPE</a:t>
                      </a:r>
                      <a:endParaRPr lang="el-GR"/>
                    </a:p>
                  </a:txBody>
                  <a:tcPr/>
                </a:tc>
                <a:tc>
                  <a:txBody>
                    <a:bodyPr/>
                    <a:lstStyle/>
                    <a:p>
                      <a:r>
                        <a:rPr lang="en-US"/>
                        <a:t>22.41</a:t>
                      </a:r>
                      <a:endParaRPr lang="el-GR"/>
                    </a:p>
                  </a:txBody>
                  <a:tcPr/>
                </a:tc>
                <a:extLst>
                  <a:ext uri="{0D108BD9-81ED-4DB2-BD59-A6C34878D82A}">
                    <a16:rowId xmlns:a16="http://schemas.microsoft.com/office/drawing/2014/main" val="2332519909"/>
                  </a:ext>
                </a:extLst>
              </a:tr>
              <a:tr h="370840">
                <a:tc>
                  <a:txBody>
                    <a:bodyPr/>
                    <a:lstStyle/>
                    <a:p>
                      <a:r>
                        <a:rPr lang="en-US"/>
                        <a:t>R^2</a:t>
                      </a:r>
                      <a:endParaRPr lang="el-GR"/>
                    </a:p>
                  </a:txBody>
                  <a:tcPr/>
                </a:tc>
                <a:tc>
                  <a:txBody>
                    <a:bodyPr/>
                    <a:lstStyle/>
                    <a:p>
                      <a:r>
                        <a:rPr lang="en-US"/>
                        <a:t>-0.25</a:t>
                      </a:r>
                      <a:endParaRPr lang="el-GR"/>
                    </a:p>
                  </a:txBody>
                  <a:tcPr/>
                </a:tc>
                <a:extLst>
                  <a:ext uri="{0D108BD9-81ED-4DB2-BD59-A6C34878D82A}">
                    <a16:rowId xmlns:a16="http://schemas.microsoft.com/office/drawing/2014/main" val="292007511"/>
                  </a:ext>
                </a:extLst>
              </a:tr>
            </a:tbl>
          </a:graphicData>
        </a:graphic>
      </p:graphicFrame>
      <p:sp>
        <p:nvSpPr>
          <p:cNvPr id="3" name="TextBox 2">
            <a:extLst>
              <a:ext uri="{FF2B5EF4-FFF2-40B4-BE49-F238E27FC236}">
                <a16:creationId xmlns:a16="http://schemas.microsoft.com/office/drawing/2014/main" id="{87CA1629-09D6-D878-A9A9-26F361AE8853}"/>
              </a:ext>
            </a:extLst>
          </p:cNvPr>
          <p:cNvSpPr txBox="1"/>
          <p:nvPr/>
        </p:nvSpPr>
        <p:spPr>
          <a:xfrm>
            <a:off x="2698044" y="310082"/>
            <a:ext cx="2201333" cy="369332"/>
          </a:xfrm>
          <a:prstGeom prst="rect">
            <a:avLst/>
          </a:prstGeom>
          <a:noFill/>
        </p:spPr>
        <p:txBody>
          <a:bodyPr wrap="square" rtlCol="0">
            <a:spAutoFit/>
          </a:bodyPr>
          <a:lstStyle/>
          <a:p>
            <a:r>
              <a:rPr lang="en-US"/>
              <a:t>Predicted vs Actual</a:t>
            </a:r>
            <a:endParaRPr lang="el-GR"/>
          </a:p>
        </p:txBody>
      </p:sp>
      <p:sp>
        <p:nvSpPr>
          <p:cNvPr id="4" name="TextBox 3">
            <a:extLst>
              <a:ext uri="{FF2B5EF4-FFF2-40B4-BE49-F238E27FC236}">
                <a16:creationId xmlns:a16="http://schemas.microsoft.com/office/drawing/2014/main" id="{BA425E6F-E4C1-CCE7-AD61-9E42D1DF88AC}"/>
              </a:ext>
            </a:extLst>
          </p:cNvPr>
          <p:cNvSpPr txBox="1"/>
          <p:nvPr/>
        </p:nvSpPr>
        <p:spPr>
          <a:xfrm>
            <a:off x="8612225" y="342350"/>
            <a:ext cx="1984002" cy="369332"/>
          </a:xfrm>
          <a:prstGeom prst="rect">
            <a:avLst/>
          </a:prstGeom>
          <a:noFill/>
        </p:spPr>
        <p:txBody>
          <a:bodyPr wrap="square" rtlCol="0">
            <a:spAutoFit/>
          </a:bodyPr>
          <a:lstStyle/>
          <a:p>
            <a:r>
              <a:rPr lang="en-US"/>
              <a:t>Residual Plot</a:t>
            </a:r>
            <a:endParaRPr lang="el-GR"/>
          </a:p>
        </p:txBody>
      </p:sp>
      <p:sp>
        <p:nvSpPr>
          <p:cNvPr id="5" name="TextBox 4">
            <a:extLst>
              <a:ext uri="{FF2B5EF4-FFF2-40B4-BE49-F238E27FC236}">
                <a16:creationId xmlns:a16="http://schemas.microsoft.com/office/drawing/2014/main" id="{01C8FE37-2047-04D0-02ED-B8D89EA832A4}"/>
              </a:ext>
            </a:extLst>
          </p:cNvPr>
          <p:cNvSpPr txBox="1"/>
          <p:nvPr/>
        </p:nvSpPr>
        <p:spPr>
          <a:xfrm>
            <a:off x="1414463" y="3733799"/>
            <a:ext cx="4025638" cy="1477328"/>
          </a:xfrm>
          <a:prstGeom prst="rect">
            <a:avLst/>
          </a:prstGeom>
          <a:noFill/>
        </p:spPr>
        <p:txBody>
          <a:bodyPr wrap="square" rtlCol="0">
            <a:spAutoFit/>
          </a:bodyPr>
          <a:lstStyle/>
          <a:p>
            <a:r>
              <a:rPr lang="en-US" b="1" u="sng"/>
              <a:t>PLOT OBSERVESIONS</a:t>
            </a:r>
          </a:p>
          <a:p>
            <a:pPr marL="285750" indent="-285750">
              <a:buFont typeface="Arial" panose="020B0604020202020204" pitchFamily="34" charset="0"/>
              <a:buChar char="•"/>
            </a:pPr>
            <a:r>
              <a:rPr lang="en-US"/>
              <a:t>Model shows moderate underfitting. </a:t>
            </a:r>
          </a:p>
          <a:p>
            <a:pPr marL="285750" indent="-285750">
              <a:buFont typeface="Arial" panose="020B0604020202020204" pitchFamily="34" charset="0"/>
              <a:buChar char="•"/>
            </a:pPr>
            <a:r>
              <a:rPr lang="en-US"/>
              <a:t>Captures the general trend reasonably but struggles with extreme and rapid variations.</a:t>
            </a:r>
            <a:endParaRPr lang="el-GR"/>
          </a:p>
        </p:txBody>
      </p:sp>
    </p:spTree>
    <p:extLst>
      <p:ext uri="{BB962C8B-B14F-4D97-AF65-F5344CB8AC3E}">
        <p14:creationId xmlns:p14="http://schemas.microsoft.com/office/powerpoint/2010/main" val="1488126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C4033-5E08-8EB5-3489-FECB582D60C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6B7B5AF-DF59-3EB1-C56E-CF1CC21E0490}"/>
              </a:ext>
            </a:extLst>
          </p:cNvPr>
          <p:cNvSpPr txBox="1"/>
          <p:nvPr/>
        </p:nvSpPr>
        <p:spPr>
          <a:xfrm>
            <a:off x="4604352" y="24545"/>
            <a:ext cx="5465420" cy="707886"/>
          </a:xfrm>
          <a:prstGeom prst="rect">
            <a:avLst/>
          </a:prstGeom>
          <a:noFill/>
        </p:spPr>
        <p:txBody>
          <a:bodyPr wrap="square" rtlCol="0">
            <a:spAutoFit/>
          </a:bodyPr>
          <a:lstStyle/>
          <a:p>
            <a:r>
              <a:rPr lang="en-US" sz="4000"/>
              <a:t>TRANSFORMERS</a:t>
            </a:r>
            <a:endParaRPr lang="el-GR" sz="4000"/>
          </a:p>
        </p:txBody>
      </p:sp>
      <p:pic>
        <p:nvPicPr>
          <p:cNvPr id="3" name="Εικόνα 2">
            <a:extLst>
              <a:ext uri="{FF2B5EF4-FFF2-40B4-BE49-F238E27FC236}">
                <a16:creationId xmlns:a16="http://schemas.microsoft.com/office/drawing/2014/main" id="{9824ADD8-B5D2-12D2-259C-EF93BD42B29D}"/>
              </a:ext>
            </a:extLst>
          </p:cNvPr>
          <p:cNvPicPr>
            <a:picLocks noChangeAspect="1"/>
          </p:cNvPicPr>
          <p:nvPr/>
        </p:nvPicPr>
        <p:blipFill>
          <a:blip r:embed="rId2"/>
          <a:stretch>
            <a:fillRect/>
          </a:stretch>
        </p:blipFill>
        <p:spPr>
          <a:xfrm>
            <a:off x="1452419" y="683288"/>
            <a:ext cx="5022890" cy="2745712"/>
          </a:xfrm>
          <a:prstGeom prst="rect">
            <a:avLst/>
          </a:prstGeom>
        </p:spPr>
      </p:pic>
      <p:pic>
        <p:nvPicPr>
          <p:cNvPr id="6" name="Εικόνα 5">
            <a:extLst>
              <a:ext uri="{FF2B5EF4-FFF2-40B4-BE49-F238E27FC236}">
                <a16:creationId xmlns:a16="http://schemas.microsoft.com/office/drawing/2014/main" id="{46ED66A4-0B56-B574-E30C-52E8D82072FA}"/>
              </a:ext>
            </a:extLst>
          </p:cNvPr>
          <p:cNvPicPr>
            <a:picLocks noChangeAspect="1"/>
          </p:cNvPicPr>
          <p:nvPr/>
        </p:nvPicPr>
        <p:blipFill>
          <a:blip r:embed="rId3"/>
          <a:stretch>
            <a:fillRect/>
          </a:stretch>
        </p:blipFill>
        <p:spPr>
          <a:xfrm>
            <a:off x="6722991" y="698269"/>
            <a:ext cx="5022890" cy="2715749"/>
          </a:xfrm>
          <a:prstGeom prst="rect">
            <a:avLst/>
          </a:prstGeom>
        </p:spPr>
      </p:pic>
      <p:graphicFrame>
        <p:nvGraphicFramePr>
          <p:cNvPr id="2" name="Πίνακας 1">
            <a:extLst>
              <a:ext uri="{FF2B5EF4-FFF2-40B4-BE49-F238E27FC236}">
                <a16:creationId xmlns:a16="http://schemas.microsoft.com/office/drawing/2014/main" id="{C39FACBA-D3B3-D437-7EE2-E118343E2C70}"/>
              </a:ext>
            </a:extLst>
          </p:cNvPr>
          <p:cNvGraphicFramePr>
            <a:graphicFrameLocks noGrp="1"/>
          </p:cNvGraphicFramePr>
          <p:nvPr>
            <p:extLst>
              <p:ext uri="{D42A27DB-BD31-4B8C-83A1-F6EECF244321}">
                <p14:modId xmlns:p14="http://schemas.microsoft.com/office/powerpoint/2010/main" val="2805889378"/>
              </p:ext>
            </p:extLst>
          </p:nvPr>
        </p:nvGraphicFramePr>
        <p:xfrm>
          <a:off x="7823200" y="3733799"/>
          <a:ext cx="3883129" cy="1854200"/>
        </p:xfrm>
        <a:graphic>
          <a:graphicData uri="http://schemas.openxmlformats.org/drawingml/2006/table">
            <a:tbl>
              <a:tblPr firstRow="1" bandRow="1">
                <a:tableStyleId>{5C22544A-7EE6-4342-B048-85BDC9FD1C3A}</a:tableStyleId>
              </a:tblPr>
              <a:tblGrid>
                <a:gridCol w="3183467">
                  <a:extLst>
                    <a:ext uri="{9D8B030D-6E8A-4147-A177-3AD203B41FA5}">
                      <a16:colId xmlns:a16="http://schemas.microsoft.com/office/drawing/2014/main" val="2311612959"/>
                    </a:ext>
                  </a:extLst>
                </a:gridCol>
                <a:gridCol w="699662">
                  <a:extLst>
                    <a:ext uri="{9D8B030D-6E8A-4147-A177-3AD203B41FA5}">
                      <a16:colId xmlns:a16="http://schemas.microsoft.com/office/drawing/2014/main" val="78421686"/>
                    </a:ext>
                  </a:extLst>
                </a:gridCol>
              </a:tblGrid>
              <a:tr h="370840">
                <a:tc>
                  <a:txBody>
                    <a:bodyPr/>
                    <a:lstStyle/>
                    <a:p>
                      <a:r>
                        <a:rPr lang="en-US"/>
                        <a:t>Model Performance Metrics</a:t>
                      </a:r>
                      <a:endParaRPr lang="el-GR"/>
                    </a:p>
                  </a:txBody>
                  <a:tcPr/>
                </a:tc>
                <a:tc>
                  <a:txBody>
                    <a:bodyPr/>
                    <a:lstStyle/>
                    <a:p>
                      <a:endParaRPr lang="el-GR"/>
                    </a:p>
                  </a:txBody>
                  <a:tcPr/>
                </a:tc>
                <a:extLst>
                  <a:ext uri="{0D108BD9-81ED-4DB2-BD59-A6C34878D82A}">
                    <a16:rowId xmlns:a16="http://schemas.microsoft.com/office/drawing/2014/main" val="308676009"/>
                  </a:ext>
                </a:extLst>
              </a:tr>
              <a:tr h="370840">
                <a:tc>
                  <a:txBody>
                    <a:bodyPr/>
                    <a:lstStyle/>
                    <a:p>
                      <a:r>
                        <a:rPr lang="en-US"/>
                        <a:t>RMSE</a:t>
                      </a:r>
                      <a:endParaRPr lang="el-GR"/>
                    </a:p>
                  </a:txBody>
                  <a:tcPr/>
                </a:tc>
                <a:tc>
                  <a:txBody>
                    <a:bodyPr/>
                    <a:lstStyle/>
                    <a:p>
                      <a:r>
                        <a:rPr lang="en-US"/>
                        <a:t>10.05</a:t>
                      </a:r>
                      <a:endParaRPr lang="el-GR"/>
                    </a:p>
                  </a:txBody>
                  <a:tcPr/>
                </a:tc>
                <a:extLst>
                  <a:ext uri="{0D108BD9-81ED-4DB2-BD59-A6C34878D82A}">
                    <a16:rowId xmlns:a16="http://schemas.microsoft.com/office/drawing/2014/main" val="3503424036"/>
                  </a:ext>
                </a:extLst>
              </a:tr>
              <a:tr h="370840">
                <a:tc>
                  <a:txBody>
                    <a:bodyPr/>
                    <a:lstStyle/>
                    <a:p>
                      <a:r>
                        <a:rPr lang="en-US"/>
                        <a:t>MAE</a:t>
                      </a:r>
                      <a:endParaRPr lang="el-GR"/>
                    </a:p>
                  </a:txBody>
                  <a:tcPr/>
                </a:tc>
                <a:tc>
                  <a:txBody>
                    <a:bodyPr/>
                    <a:lstStyle/>
                    <a:p>
                      <a:r>
                        <a:rPr lang="en-US"/>
                        <a:t>8.46</a:t>
                      </a:r>
                      <a:endParaRPr lang="el-GR"/>
                    </a:p>
                  </a:txBody>
                  <a:tcPr/>
                </a:tc>
                <a:extLst>
                  <a:ext uri="{0D108BD9-81ED-4DB2-BD59-A6C34878D82A}">
                    <a16:rowId xmlns:a16="http://schemas.microsoft.com/office/drawing/2014/main" val="488890587"/>
                  </a:ext>
                </a:extLst>
              </a:tr>
              <a:tr h="370840">
                <a:tc>
                  <a:txBody>
                    <a:bodyPr/>
                    <a:lstStyle/>
                    <a:p>
                      <a:r>
                        <a:rPr lang="en-US"/>
                        <a:t>MAPE</a:t>
                      </a:r>
                      <a:endParaRPr lang="el-GR"/>
                    </a:p>
                  </a:txBody>
                  <a:tcPr/>
                </a:tc>
                <a:tc>
                  <a:txBody>
                    <a:bodyPr/>
                    <a:lstStyle/>
                    <a:p>
                      <a:r>
                        <a:rPr lang="en-US"/>
                        <a:t>16.34</a:t>
                      </a:r>
                      <a:endParaRPr lang="el-GR"/>
                    </a:p>
                  </a:txBody>
                  <a:tcPr/>
                </a:tc>
                <a:extLst>
                  <a:ext uri="{0D108BD9-81ED-4DB2-BD59-A6C34878D82A}">
                    <a16:rowId xmlns:a16="http://schemas.microsoft.com/office/drawing/2014/main" val="2332519909"/>
                  </a:ext>
                </a:extLst>
              </a:tr>
              <a:tr h="370840">
                <a:tc>
                  <a:txBody>
                    <a:bodyPr/>
                    <a:lstStyle/>
                    <a:p>
                      <a:r>
                        <a:rPr lang="en-US"/>
                        <a:t>R^2</a:t>
                      </a:r>
                      <a:endParaRPr lang="el-GR"/>
                    </a:p>
                  </a:txBody>
                  <a:tcPr/>
                </a:tc>
                <a:tc>
                  <a:txBody>
                    <a:bodyPr/>
                    <a:lstStyle/>
                    <a:p>
                      <a:r>
                        <a:rPr lang="en-US"/>
                        <a:t>0.005</a:t>
                      </a:r>
                      <a:endParaRPr lang="el-GR"/>
                    </a:p>
                  </a:txBody>
                  <a:tcPr/>
                </a:tc>
                <a:extLst>
                  <a:ext uri="{0D108BD9-81ED-4DB2-BD59-A6C34878D82A}">
                    <a16:rowId xmlns:a16="http://schemas.microsoft.com/office/drawing/2014/main" val="292007511"/>
                  </a:ext>
                </a:extLst>
              </a:tr>
            </a:tbl>
          </a:graphicData>
        </a:graphic>
      </p:graphicFrame>
      <p:sp>
        <p:nvSpPr>
          <p:cNvPr id="4" name="TextBox 3">
            <a:extLst>
              <a:ext uri="{FF2B5EF4-FFF2-40B4-BE49-F238E27FC236}">
                <a16:creationId xmlns:a16="http://schemas.microsoft.com/office/drawing/2014/main" id="{37BF8FFE-2E8C-F9AF-FA51-2259F81C1336}"/>
              </a:ext>
            </a:extLst>
          </p:cNvPr>
          <p:cNvSpPr txBox="1"/>
          <p:nvPr/>
        </p:nvSpPr>
        <p:spPr>
          <a:xfrm>
            <a:off x="1452419" y="328937"/>
            <a:ext cx="2201333" cy="369332"/>
          </a:xfrm>
          <a:prstGeom prst="rect">
            <a:avLst/>
          </a:prstGeom>
          <a:noFill/>
        </p:spPr>
        <p:txBody>
          <a:bodyPr wrap="square" rtlCol="0">
            <a:spAutoFit/>
          </a:bodyPr>
          <a:lstStyle/>
          <a:p>
            <a:r>
              <a:rPr lang="en-US"/>
              <a:t>Predicted vs Actual</a:t>
            </a:r>
            <a:endParaRPr lang="el-GR"/>
          </a:p>
        </p:txBody>
      </p:sp>
      <p:sp>
        <p:nvSpPr>
          <p:cNvPr id="5" name="TextBox 4">
            <a:extLst>
              <a:ext uri="{FF2B5EF4-FFF2-40B4-BE49-F238E27FC236}">
                <a16:creationId xmlns:a16="http://schemas.microsoft.com/office/drawing/2014/main" id="{017373D8-F7BF-74A9-E30B-060B34B2C980}"/>
              </a:ext>
            </a:extLst>
          </p:cNvPr>
          <p:cNvSpPr txBox="1"/>
          <p:nvPr/>
        </p:nvSpPr>
        <p:spPr>
          <a:xfrm>
            <a:off x="10406301" y="342350"/>
            <a:ext cx="1984002" cy="369332"/>
          </a:xfrm>
          <a:prstGeom prst="rect">
            <a:avLst/>
          </a:prstGeom>
          <a:noFill/>
        </p:spPr>
        <p:txBody>
          <a:bodyPr wrap="square" rtlCol="0">
            <a:spAutoFit/>
          </a:bodyPr>
          <a:lstStyle/>
          <a:p>
            <a:r>
              <a:rPr lang="en-US"/>
              <a:t>Residual Plot</a:t>
            </a:r>
            <a:endParaRPr lang="el-GR"/>
          </a:p>
        </p:txBody>
      </p:sp>
      <p:sp>
        <p:nvSpPr>
          <p:cNvPr id="7" name="TextBox 6">
            <a:extLst>
              <a:ext uri="{FF2B5EF4-FFF2-40B4-BE49-F238E27FC236}">
                <a16:creationId xmlns:a16="http://schemas.microsoft.com/office/drawing/2014/main" id="{4DA190AB-F194-6FAF-4EF1-BBEBEE9FD52A}"/>
              </a:ext>
            </a:extLst>
          </p:cNvPr>
          <p:cNvSpPr txBox="1"/>
          <p:nvPr/>
        </p:nvSpPr>
        <p:spPr>
          <a:xfrm>
            <a:off x="1343376" y="3644626"/>
            <a:ext cx="3883129" cy="1754326"/>
          </a:xfrm>
          <a:prstGeom prst="rect">
            <a:avLst/>
          </a:prstGeom>
          <a:noFill/>
        </p:spPr>
        <p:txBody>
          <a:bodyPr wrap="square" rtlCol="0">
            <a:spAutoFit/>
          </a:bodyPr>
          <a:lstStyle/>
          <a:p>
            <a:r>
              <a:rPr lang="en-US" b="1" u="sng"/>
              <a:t>PLOT OBSERVESIONS</a:t>
            </a:r>
          </a:p>
          <a:p>
            <a:pPr marL="285750" indent="-285750">
              <a:buFont typeface="Arial" panose="020B0604020202020204" pitchFamily="34" charset="0"/>
              <a:buChar char="•"/>
            </a:pPr>
            <a:r>
              <a:rPr lang="en-US"/>
              <a:t>Model is heavily underfitting the data. </a:t>
            </a:r>
          </a:p>
          <a:p>
            <a:pPr marL="285750" indent="-285750">
              <a:buFont typeface="Arial" panose="020B0604020202020204" pitchFamily="34" charset="0"/>
              <a:buChar char="•"/>
            </a:pPr>
            <a:r>
              <a:rPr lang="en-US"/>
              <a:t>It fails to learn the variability and trends in the actual data, which results in constant predictions.</a:t>
            </a:r>
            <a:endParaRPr lang="el-GR"/>
          </a:p>
        </p:txBody>
      </p:sp>
    </p:spTree>
    <p:extLst>
      <p:ext uri="{BB962C8B-B14F-4D97-AF65-F5344CB8AC3E}">
        <p14:creationId xmlns:p14="http://schemas.microsoft.com/office/powerpoint/2010/main" val="14864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61000">
              <a:srgbClr val="DBD8D4"/>
            </a:gs>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CCACD-74D2-2B62-7765-8A3B811F5323}"/>
              </a:ext>
            </a:extLst>
          </p:cNvPr>
          <p:cNvSpPr>
            <a:spLocks noGrp="1"/>
          </p:cNvSpPr>
          <p:nvPr>
            <p:ph type="title"/>
          </p:nvPr>
        </p:nvSpPr>
        <p:spPr>
          <a:xfrm>
            <a:off x="1490402" y="215825"/>
            <a:ext cx="9603275" cy="1049235"/>
          </a:xfrm>
        </p:spPr>
        <p:txBody>
          <a:bodyPr>
            <a:normAutofit/>
          </a:bodyPr>
          <a:lstStyle/>
          <a:p>
            <a:pPr algn="ctr"/>
            <a:r>
              <a:rPr lang="en-US" sz="4000">
                <a:latin typeface="Tahoma" panose="020B0604030504040204" pitchFamily="34" charset="0"/>
                <a:ea typeface="Tahoma" panose="020B0604030504040204" pitchFamily="34" charset="0"/>
                <a:cs typeface="Tahoma" panose="020B0604030504040204" pitchFamily="34" charset="0"/>
              </a:rPr>
              <a:t>in-depth  visual model comparison</a:t>
            </a:r>
            <a:endParaRPr lang="el-GR" sz="400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Chart 2">
            <a:extLst>
              <a:ext uri="{FF2B5EF4-FFF2-40B4-BE49-F238E27FC236}">
                <a16:creationId xmlns:a16="http://schemas.microsoft.com/office/drawing/2014/main" id="{FA73B060-B866-6A4E-34CB-3A44E1750F62}"/>
              </a:ext>
            </a:extLst>
          </p:cNvPr>
          <p:cNvGraphicFramePr>
            <a:graphicFrameLocks/>
          </p:cNvGraphicFramePr>
          <p:nvPr>
            <p:extLst>
              <p:ext uri="{D42A27DB-BD31-4B8C-83A1-F6EECF244321}">
                <p14:modId xmlns:p14="http://schemas.microsoft.com/office/powerpoint/2010/main" val="709118425"/>
              </p:ext>
            </p:extLst>
          </p:nvPr>
        </p:nvGraphicFramePr>
        <p:xfrm>
          <a:off x="3276600" y="3702302"/>
          <a:ext cx="5486400" cy="323898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Γράφημα 9">
            <a:extLst>
              <a:ext uri="{FF2B5EF4-FFF2-40B4-BE49-F238E27FC236}">
                <a16:creationId xmlns:a16="http://schemas.microsoft.com/office/drawing/2014/main" id="{15E7F360-93E7-83EF-0C8E-4EF7692898A9}"/>
              </a:ext>
            </a:extLst>
          </p:cNvPr>
          <p:cNvGraphicFramePr>
            <a:graphicFrameLocks/>
          </p:cNvGraphicFramePr>
          <p:nvPr>
            <p:extLst>
              <p:ext uri="{D42A27DB-BD31-4B8C-83A1-F6EECF244321}">
                <p14:modId xmlns:p14="http://schemas.microsoft.com/office/powerpoint/2010/main" val="341050229"/>
              </p:ext>
            </p:extLst>
          </p:nvPr>
        </p:nvGraphicFramePr>
        <p:xfrm>
          <a:off x="1490402" y="755417"/>
          <a:ext cx="4332169" cy="27588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Γράφημα 10">
            <a:extLst>
              <a:ext uri="{FF2B5EF4-FFF2-40B4-BE49-F238E27FC236}">
                <a16:creationId xmlns:a16="http://schemas.microsoft.com/office/drawing/2014/main" id="{30BC20A5-D358-0A84-37BD-F68B2558213D}"/>
              </a:ext>
            </a:extLst>
          </p:cNvPr>
          <p:cNvGraphicFramePr>
            <a:graphicFrameLocks/>
          </p:cNvGraphicFramePr>
          <p:nvPr>
            <p:extLst>
              <p:ext uri="{D42A27DB-BD31-4B8C-83A1-F6EECF244321}">
                <p14:modId xmlns:p14="http://schemas.microsoft.com/office/powerpoint/2010/main" val="1231394974"/>
              </p:ext>
            </p:extLst>
          </p:nvPr>
        </p:nvGraphicFramePr>
        <p:xfrm>
          <a:off x="6761508" y="844958"/>
          <a:ext cx="4572000" cy="2614084"/>
        </p:xfrm>
        <a:graphic>
          <a:graphicData uri="http://schemas.openxmlformats.org/drawingml/2006/chart">
            <c:chart xmlns:c="http://schemas.openxmlformats.org/drawingml/2006/chart" xmlns:r="http://schemas.openxmlformats.org/officeDocument/2006/relationships" r:id="rId4"/>
          </a:graphicData>
        </a:graphic>
      </p:graphicFrame>
      <p:sp>
        <p:nvSpPr>
          <p:cNvPr id="12" name="Ορθογώνιο 11">
            <a:extLst>
              <a:ext uri="{FF2B5EF4-FFF2-40B4-BE49-F238E27FC236}">
                <a16:creationId xmlns:a16="http://schemas.microsoft.com/office/drawing/2014/main" id="{E2EA21CF-012C-56F3-C579-6FE9219D0F01}"/>
              </a:ext>
            </a:extLst>
          </p:cNvPr>
          <p:cNvSpPr/>
          <p:nvPr/>
        </p:nvSpPr>
        <p:spPr>
          <a:xfrm>
            <a:off x="3276599" y="3608175"/>
            <a:ext cx="5486399" cy="3075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3" name="Ορθογώνιο 12">
            <a:extLst>
              <a:ext uri="{FF2B5EF4-FFF2-40B4-BE49-F238E27FC236}">
                <a16:creationId xmlns:a16="http://schemas.microsoft.com/office/drawing/2014/main" id="{25CDDD2A-71CF-B801-D883-3FB7BE2BD08B}"/>
              </a:ext>
            </a:extLst>
          </p:cNvPr>
          <p:cNvSpPr/>
          <p:nvPr/>
        </p:nvSpPr>
        <p:spPr>
          <a:xfrm>
            <a:off x="6761508" y="844958"/>
            <a:ext cx="4332169" cy="25840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5" name="Ορθογώνιο 14">
            <a:extLst>
              <a:ext uri="{FF2B5EF4-FFF2-40B4-BE49-F238E27FC236}">
                <a16:creationId xmlns:a16="http://schemas.microsoft.com/office/drawing/2014/main" id="{7399D516-9152-3E5E-F70C-5986D6108C4E}"/>
              </a:ext>
            </a:extLst>
          </p:cNvPr>
          <p:cNvSpPr/>
          <p:nvPr/>
        </p:nvSpPr>
        <p:spPr>
          <a:xfrm>
            <a:off x="1490402" y="844958"/>
            <a:ext cx="3951244" cy="25752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1589742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DCDC15D-EA65-1290-31DF-54EE24A4AC8B}"/>
              </a:ext>
            </a:extLst>
          </p:cNvPr>
          <p:cNvSpPr txBox="1"/>
          <p:nvPr/>
        </p:nvSpPr>
        <p:spPr>
          <a:xfrm>
            <a:off x="696277" y="1952625"/>
            <a:ext cx="3769995" cy="406265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l-GR" altLang="el-GR" sz="2400" b="1"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GBM and XGBoost:</a:t>
            </a:r>
            <a:endParaRPr lang="en-US" altLang="el-GR" sz="2400" b="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Strengths</a:t>
            </a:r>
            <a:r>
              <a:rPr kumimoji="0" lang="el-GR" altLang="el-GR" sz="18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l-GR" altLang="el-GR" sz="180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Excellent</a:t>
            </a:r>
            <a:r>
              <a:rPr kumimoji="0" lang="el-GR" altLang="el-GR" sz="180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performance</a:t>
            </a:r>
            <a:r>
              <a:rPr kumimoji="0" lang="el-GR" altLang="el-GR" sz="180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on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tabular</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data</a:t>
            </a:r>
            <a:r>
              <a:rPr lang="en-US" altLang="el-GR">
                <a:latin typeface="Tahoma" panose="020B0604030504040204" pitchFamily="34" charset="0"/>
                <a:ea typeface="Tahoma" panose="020B0604030504040204" pitchFamily="34" charset="0"/>
                <a:cs typeface="Tahoma" panose="020B0604030504040204" pitchFamily="34" charset="0"/>
              </a:rPr>
              <a:t>.</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l-GR" sz="180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M</a:t>
            </a:r>
            <a:r>
              <a:rPr kumimoji="0" lang="el-GR" altLang="el-GR" sz="180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inimal</a:t>
            </a:r>
            <a:r>
              <a:rPr kumimoji="0" lang="el-GR" altLang="el-GR" sz="180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preprocessing</a:t>
            </a:r>
            <a:r>
              <a:rPr kumimoji="0" lang="el-GR" altLang="el-GR" sz="180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required</a:t>
            </a:r>
            <a:r>
              <a:rPr lang="en-US" altLang="el-GR">
                <a:latin typeface="Tahoma" panose="020B0604030504040204" pitchFamily="34" charset="0"/>
                <a:ea typeface="Tahoma" panose="020B0604030504040204" pitchFamily="34" charset="0"/>
                <a:cs typeface="Tahoma" panose="020B0604030504040204" pitchFamily="34" charset="0"/>
              </a:rPr>
              <a:t>.</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l-GR">
                <a:latin typeface="Tahoma" panose="020B0604030504040204" pitchFamily="34" charset="0"/>
                <a:ea typeface="Tahoma" panose="020B0604030504040204" pitchFamily="34" charset="0"/>
                <a:cs typeface="Tahoma" panose="020B0604030504040204" pitchFamily="34" charset="0"/>
              </a:rPr>
              <a:t>R</a:t>
            </a:r>
            <a:r>
              <a:rPr kumimoji="0" lang="el-GR" altLang="el-GR" sz="180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obust</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to</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smaller</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datasets</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Weaknesses</a:t>
            </a:r>
            <a:r>
              <a:rPr kumimoji="0" lang="el-GR" altLang="el-GR" sz="18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Limited</a:t>
            </a:r>
            <a:r>
              <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time-series</a:t>
            </a:r>
            <a:r>
              <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dependency</a:t>
            </a:r>
            <a:r>
              <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handling</a:t>
            </a:r>
            <a:r>
              <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without</a:t>
            </a:r>
            <a:r>
              <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feature</a:t>
            </a:r>
            <a:r>
              <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engineering</a:t>
            </a:r>
            <a:r>
              <a:rPr lang="en-US" altLang="el-GR">
                <a:latin typeface="Tahoma" panose="020B0604030504040204" pitchFamily="34" charset="0"/>
                <a:ea typeface="Tahoma" panose="020B0604030504040204" pitchFamily="34" charset="0"/>
                <a:cs typeface="Tahoma" panose="020B0604030504040204" pitchFamily="34" charset="0"/>
              </a:rPr>
              <a:t>.</a:t>
            </a:r>
            <a:endParaRPr kumimoji="0" lang="en-US"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l-GR">
                <a:latin typeface="Tahoma" panose="020B0604030504040204" pitchFamily="34" charset="0"/>
                <a:ea typeface="Tahoma" panose="020B0604030504040204" pitchFamily="34" charset="0"/>
                <a:cs typeface="Tahoma" panose="020B0604030504040204" pitchFamily="34" charset="0"/>
              </a:rPr>
              <a:t>S</a:t>
            </a: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ensitive</a:t>
            </a:r>
            <a:r>
              <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to</a:t>
            </a:r>
            <a:r>
              <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hyperparameters</a:t>
            </a:r>
            <a:r>
              <a:rPr kumimoji="0" lang="el-GR"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l-GR"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endParaRPr lang="el-GR"/>
          </a:p>
        </p:txBody>
      </p:sp>
      <p:sp>
        <p:nvSpPr>
          <p:cNvPr id="8" name="TextBox 7">
            <a:extLst>
              <a:ext uri="{FF2B5EF4-FFF2-40B4-BE49-F238E27FC236}">
                <a16:creationId xmlns:a16="http://schemas.microsoft.com/office/drawing/2014/main" id="{DC108D24-0A44-1B45-920F-5F87CCF30727}"/>
              </a:ext>
            </a:extLst>
          </p:cNvPr>
          <p:cNvSpPr txBox="1"/>
          <p:nvPr/>
        </p:nvSpPr>
        <p:spPr>
          <a:xfrm>
            <a:off x="4613433" y="1952625"/>
            <a:ext cx="3381375" cy="378565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l-GR" altLang="el-GR" sz="2400" b="1" i="0"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LSTM, GRU, CNN:</a:t>
            </a:r>
            <a:endParaRPr kumimoji="0" lang="en-US" altLang="el-GR" sz="2400" b="1" i="0"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Strengths</a:t>
            </a:r>
            <a:r>
              <a:rPr kumimoji="0" lang="el-GR" altLang="el-GR" sz="18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Capture</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temporal</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dependencies</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and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complex</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patterns</a:t>
            </a:r>
            <a:r>
              <a:rPr lang="en-US" altLang="el-GR">
                <a:latin typeface="Tahoma" panose="020B0604030504040204" pitchFamily="34" charset="0"/>
                <a:ea typeface="Tahoma" panose="020B0604030504040204" pitchFamily="34" charset="0"/>
                <a:cs typeface="Tahoma" panose="020B0604030504040204" pitchFamily="34" charset="0"/>
              </a:rPr>
              <a:t>.</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l-GR">
                <a:latin typeface="Tahoma" panose="020B0604030504040204" pitchFamily="34" charset="0"/>
                <a:ea typeface="Tahoma" panose="020B0604030504040204" pitchFamily="34" charset="0"/>
                <a:cs typeface="Tahoma" panose="020B0604030504040204" pitchFamily="34" charset="0"/>
              </a:rPr>
              <a:t>S</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uitable</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for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sequential</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data</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Weaknesses</a:t>
            </a:r>
            <a:r>
              <a:rPr kumimoji="0" lang="el-GR" altLang="el-GR" sz="18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lang="en-US" altLang="el-GR" b="1">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Computationally</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expensive</a:t>
            </a:r>
            <a:r>
              <a:rPr lang="en-US" altLang="el-GR">
                <a:latin typeface="Tahoma" panose="020B0604030504040204" pitchFamily="34" charset="0"/>
                <a:ea typeface="Tahoma" panose="020B0604030504040204" pitchFamily="34" charset="0"/>
                <a:cs typeface="Tahoma" panose="020B0604030504040204" pitchFamily="34" charset="0"/>
              </a:rPr>
              <a:t>.</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l-GR">
                <a:latin typeface="Tahoma" panose="020B0604030504040204" pitchFamily="34" charset="0"/>
                <a:ea typeface="Tahoma" panose="020B0604030504040204" pitchFamily="34" charset="0"/>
                <a:cs typeface="Tahoma" panose="020B0604030504040204" pitchFamily="34" charset="0"/>
              </a:rPr>
              <a:t>O</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verfitting</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risks</a:t>
            </a:r>
            <a:r>
              <a:rPr lang="en-US" altLang="el-GR">
                <a:latin typeface="Tahoma" panose="020B0604030504040204" pitchFamily="34" charset="0"/>
                <a:ea typeface="Tahoma" panose="020B0604030504040204" pitchFamily="34" charset="0"/>
                <a:cs typeface="Tahoma" panose="020B0604030504040204" pitchFamily="34" charset="0"/>
              </a:rPr>
              <a:t>.</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l-GR">
                <a:latin typeface="Tahoma" panose="020B0604030504040204" pitchFamily="34" charset="0"/>
                <a:ea typeface="Tahoma" panose="020B0604030504040204" pitchFamily="34" charset="0"/>
                <a:cs typeface="Tahoma" panose="020B0604030504040204" pitchFamily="34" charset="0"/>
              </a:rPr>
              <a:t>R</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equire</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large</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datasets</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endParaRPr lang="el-GR"/>
          </a:p>
        </p:txBody>
      </p:sp>
      <p:sp>
        <p:nvSpPr>
          <p:cNvPr id="9" name="TextBox 8">
            <a:extLst>
              <a:ext uri="{FF2B5EF4-FFF2-40B4-BE49-F238E27FC236}">
                <a16:creationId xmlns:a16="http://schemas.microsoft.com/office/drawing/2014/main" id="{769DF4D3-B0AB-2DCD-2181-A1E6427F56A6}"/>
              </a:ext>
            </a:extLst>
          </p:cNvPr>
          <p:cNvSpPr txBox="1"/>
          <p:nvPr/>
        </p:nvSpPr>
        <p:spPr>
          <a:xfrm>
            <a:off x="8141968" y="1952625"/>
            <a:ext cx="3648075" cy="378565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l-GR" altLang="el-GR" sz="2400" b="1" i="0"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Transformer</a:t>
            </a:r>
            <a:r>
              <a:rPr kumimoji="0" lang="el-GR" altLang="el-GR" sz="2400" b="1" i="0"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2400" b="1" i="0"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Models</a:t>
            </a:r>
            <a:r>
              <a:rPr kumimoji="0" lang="el-GR" altLang="el-GR" sz="2400" b="1" i="0"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l-GR" sz="2400" b="1" i="0"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Strengths</a:t>
            </a:r>
            <a:r>
              <a:rPr kumimoji="0" lang="el-GR" altLang="el-GR" sz="18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Handle</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long-term</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dependencies</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well</a:t>
            </a: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lang="en-US" altLang="el-GR">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l-GR">
                <a:latin typeface="Tahoma" panose="020B0604030504040204" pitchFamily="34" charset="0"/>
                <a:ea typeface="Tahoma" panose="020B0604030504040204" pitchFamily="34" charset="0"/>
                <a:cs typeface="Tahoma" panose="020B0604030504040204" pitchFamily="34" charset="0"/>
              </a:rPr>
              <a:t>P</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arallelizable</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for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faster</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training</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b="1"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Weaknesses</a:t>
            </a:r>
            <a:r>
              <a:rPr kumimoji="0" lang="el-GR" altLang="el-GR" sz="18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High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computational</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demand</a:t>
            </a:r>
            <a:r>
              <a:rPr lang="en-US" altLang="el-GR">
                <a:latin typeface="Tahoma" panose="020B0604030504040204" pitchFamily="34" charset="0"/>
                <a:ea typeface="Tahoma" panose="020B0604030504040204" pitchFamily="34" charset="0"/>
                <a:cs typeface="Tahoma" panose="020B0604030504040204" pitchFamily="34" charset="0"/>
              </a:rPr>
              <a:t>.</a:t>
            </a:r>
            <a:endParaRPr kumimoji="0" lang="en-US"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l-GR">
                <a:latin typeface="Tahoma" panose="020B0604030504040204" pitchFamily="34" charset="0"/>
                <a:ea typeface="Tahoma" panose="020B0604030504040204" pitchFamily="34" charset="0"/>
                <a:cs typeface="Tahoma" panose="020B0604030504040204" pitchFamily="34" charset="0"/>
              </a:rPr>
              <a:t>S</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truggled</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with</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the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dataset's</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size</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and </a:t>
            </a:r>
            <a:r>
              <a:rPr kumimoji="0" lang="el-GR" altLang="el-GR" sz="1800" i="0" u="none" strike="noStrike" cap="none" normalizeH="0" baseline="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complexity</a:t>
            </a:r>
            <a:r>
              <a:rPr kumimoji="0" lang="el-GR" altLang="el-GR" sz="18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p>
          <a:p>
            <a:endParaRPr lang="el-GR"/>
          </a:p>
        </p:txBody>
      </p:sp>
      <p:sp>
        <p:nvSpPr>
          <p:cNvPr id="10" name="TextBox 9">
            <a:extLst>
              <a:ext uri="{FF2B5EF4-FFF2-40B4-BE49-F238E27FC236}">
                <a16:creationId xmlns:a16="http://schemas.microsoft.com/office/drawing/2014/main" id="{E1C2FE9F-3909-BF5A-F64E-4799DBAD3378}"/>
              </a:ext>
            </a:extLst>
          </p:cNvPr>
          <p:cNvSpPr txBox="1"/>
          <p:nvPr/>
        </p:nvSpPr>
        <p:spPr>
          <a:xfrm>
            <a:off x="3353184" y="746730"/>
            <a:ext cx="5901872" cy="707886"/>
          </a:xfrm>
          <a:prstGeom prst="rect">
            <a:avLst/>
          </a:prstGeom>
          <a:noFill/>
        </p:spPr>
        <p:txBody>
          <a:bodyPr wrap="none" rtlCol="0">
            <a:spAutoFit/>
          </a:bodyPr>
          <a:lstStyle/>
          <a:p>
            <a:r>
              <a:rPr kumimoji="0" lang="el-GR" altLang="el-GR" sz="40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Strengths</a:t>
            </a:r>
            <a:r>
              <a:rPr kumimoji="0" lang="en-US" altLang="el-GR" sz="40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vs </a:t>
            </a:r>
            <a:r>
              <a:rPr kumimoji="0" lang="el-GR" altLang="el-GR" sz="40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Weaknesses</a:t>
            </a:r>
            <a:endParaRPr lang="el-GR" sz="4000">
              <a:latin typeface="Tahoma" panose="020B0604030504040204" pitchFamily="34" charset="0"/>
              <a:ea typeface="Tahoma" panose="020B0604030504040204" pitchFamily="34" charset="0"/>
              <a:cs typeface="Tahoma" panose="020B0604030504040204" pitchFamily="34" charset="0"/>
            </a:endParaRPr>
          </a:p>
        </p:txBody>
      </p:sp>
      <p:cxnSp>
        <p:nvCxnSpPr>
          <p:cNvPr id="12" name="Ευθεία γραμμή σύνδεσης 11">
            <a:extLst>
              <a:ext uri="{FF2B5EF4-FFF2-40B4-BE49-F238E27FC236}">
                <a16:creationId xmlns:a16="http://schemas.microsoft.com/office/drawing/2014/main" id="{400DF932-8F10-3D40-38A6-7B083D9CB52B}"/>
              </a:ext>
            </a:extLst>
          </p:cNvPr>
          <p:cNvCxnSpPr>
            <a:cxnSpLocks/>
          </p:cNvCxnSpPr>
          <p:nvPr/>
        </p:nvCxnSpPr>
        <p:spPr>
          <a:xfrm>
            <a:off x="4466272" y="1866900"/>
            <a:ext cx="0" cy="4244370"/>
          </a:xfrm>
          <a:prstGeom prst="line">
            <a:avLst/>
          </a:prstGeom>
        </p:spPr>
        <p:style>
          <a:lnRef idx="3">
            <a:schemeClr val="accent1"/>
          </a:lnRef>
          <a:fillRef idx="0">
            <a:schemeClr val="accent1"/>
          </a:fillRef>
          <a:effectRef idx="2">
            <a:schemeClr val="accent1"/>
          </a:effectRef>
          <a:fontRef idx="minor">
            <a:schemeClr val="tx1"/>
          </a:fontRef>
        </p:style>
      </p:cxnSp>
      <p:cxnSp>
        <p:nvCxnSpPr>
          <p:cNvPr id="18" name="Ευθεία γραμμή σύνδεσης 17">
            <a:extLst>
              <a:ext uri="{FF2B5EF4-FFF2-40B4-BE49-F238E27FC236}">
                <a16:creationId xmlns:a16="http://schemas.microsoft.com/office/drawing/2014/main" id="{6FA2B0E9-85F2-C7EB-1780-D6DDAAF4D514}"/>
              </a:ext>
            </a:extLst>
          </p:cNvPr>
          <p:cNvCxnSpPr>
            <a:cxnSpLocks/>
          </p:cNvCxnSpPr>
          <p:nvPr/>
        </p:nvCxnSpPr>
        <p:spPr>
          <a:xfrm>
            <a:off x="7994808" y="1866900"/>
            <a:ext cx="0" cy="4244370"/>
          </a:xfrm>
          <a:prstGeom prst="line">
            <a:avLst/>
          </a:prstGeom>
        </p:spPr>
        <p:style>
          <a:lnRef idx="3">
            <a:schemeClr val="accent1"/>
          </a:lnRef>
          <a:fillRef idx="0">
            <a:schemeClr val="accent1"/>
          </a:fillRef>
          <a:effectRef idx="2">
            <a:schemeClr val="accent1"/>
          </a:effectRef>
          <a:fontRef idx="minor">
            <a:schemeClr val="tx1"/>
          </a:fontRef>
        </p:style>
      </p:cxnSp>
      <p:sp>
        <p:nvSpPr>
          <p:cNvPr id="23" name="TextBox 22">
            <a:extLst>
              <a:ext uri="{FF2B5EF4-FFF2-40B4-BE49-F238E27FC236}">
                <a16:creationId xmlns:a16="http://schemas.microsoft.com/office/drawing/2014/main" id="{5086980D-ADF1-3DD2-9644-02EE9D37EE56}"/>
              </a:ext>
            </a:extLst>
          </p:cNvPr>
          <p:cNvSpPr txBox="1"/>
          <p:nvPr/>
        </p:nvSpPr>
        <p:spPr>
          <a:xfrm>
            <a:off x="696276" y="2286000"/>
            <a:ext cx="3219450" cy="338554"/>
          </a:xfrm>
          <a:prstGeom prst="rect">
            <a:avLst/>
          </a:prstGeom>
          <a:noFill/>
        </p:spPr>
        <p:txBody>
          <a:bodyPr wrap="square" rtlCol="0">
            <a:spAutoFit/>
          </a:bodyPr>
          <a:lstStyle/>
          <a:p>
            <a:r>
              <a:rPr kumimoji="0" lang="el-GR" altLang="el-GR" sz="1600"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Gradient Boosting Models</a:t>
            </a:r>
            <a:endParaRPr lang="el-GR" sz="1600">
              <a:latin typeface="Tahoma" panose="020B0604030504040204" pitchFamily="34" charset="0"/>
              <a:ea typeface="Tahoma" panose="020B0604030504040204" pitchFamily="34" charset="0"/>
              <a:cs typeface="Tahoma" panose="020B0604030504040204" pitchFamily="34" charset="0"/>
            </a:endParaRPr>
          </a:p>
        </p:txBody>
      </p:sp>
      <p:sp>
        <p:nvSpPr>
          <p:cNvPr id="25" name="TextBox 24">
            <a:extLst>
              <a:ext uri="{FF2B5EF4-FFF2-40B4-BE49-F238E27FC236}">
                <a16:creationId xmlns:a16="http://schemas.microsoft.com/office/drawing/2014/main" id="{642492BD-5C59-2332-50A4-A06E54D25F3B}"/>
              </a:ext>
            </a:extLst>
          </p:cNvPr>
          <p:cNvSpPr txBox="1"/>
          <p:nvPr/>
        </p:nvSpPr>
        <p:spPr>
          <a:xfrm>
            <a:off x="4623674" y="2296596"/>
            <a:ext cx="2296476" cy="338554"/>
          </a:xfrm>
          <a:prstGeom prst="rect">
            <a:avLst/>
          </a:prstGeom>
          <a:noFill/>
        </p:spPr>
        <p:txBody>
          <a:bodyPr wrap="square" rtlCol="0">
            <a:spAutoFit/>
          </a:bodyPr>
          <a:lstStyle/>
          <a:p>
            <a:r>
              <a:rPr kumimoji="0" lang="el-GR" altLang="el-GR" sz="1600" i="0"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Deep Learning Models</a:t>
            </a:r>
            <a:endParaRPr lang="el-GR"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26464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AAF9C17-337D-17D1-C522-DA45971EA4E5}"/>
              </a:ext>
            </a:extLst>
          </p:cNvPr>
          <p:cNvSpPr>
            <a:spLocks noGrp="1"/>
          </p:cNvSpPr>
          <p:nvPr>
            <p:ph type="title"/>
          </p:nvPr>
        </p:nvSpPr>
        <p:spPr>
          <a:xfrm>
            <a:off x="954389" y="823569"/>
            <a:ext cx="10597654" cy="1049235"/>
          </a:xfrm>
        </p:spPr>
        <p:txBody>
          <a:bodyPr>
            <a:noAutofit/>
          </a:bodyPr>
          <a:lstStyle/>
          <a:p>
            <a:pPr algn="ctr"/>
            <a:r>
              <a:rPr lang="en-US" sz="3600">
                <a:latin typeface="Tahoma" panose="020B0604030504040204" pitchFamily="34" charset="0"/>
                <a:ea typeface="Tahoma" panose="020B0604030504040204" pitchFamily="34" charset="0"/>
                <a:cs typeface="Tahoma" panose="020B0604030504040204" pitchFamily="34" charset="0"/>
              </a:rPr>
              <a:t>Overfitting and Computational Efficiency</a:t>
            </a:r>
            <a:endParaRPr lang="el-GR" sz="3600">
              <a:latin typeface="Tahoma" panose="020B0604030504040204" pitchFamily="34" charset="0"/>
              <a:ea typeface="Tahoma" panose="020B0604030504040204" pitchFamily="34" charset="0"/>
              <a:cs typeface="Tahoma" panose="020B0604030504040204" pitchFamily="34" charset="0"/>
            </a:endParaRPr>
          </a:p>
        </p:txBody>
      </p:sp>
      <p:sp>
        <p:nvSpPr>
          <p:cNvPr id="3" name="Θέση περιεχομένου 2">
            <a:extLst>
              <a:ext uri="{FF2B5EF4-FFF2-40B4-BE49-F238E27FC236}">
                <a16:creationId xmlns:a16="http://schemas.microsoft.com/office/drawing/2014/main" id="{9D8796DE-212B-3664-322F-6CA474512AEA}"/>
              </a:ext>
            </a:extLst>
          </p:cNvPr>
          <p:cNvSpPr>
            <a:spLocks noGrp="1"/>
          </p:cNvSpPr>
          <p:nvPr>
            <p:ph idx="1"/>
          </p:nvPr>
        </p:nvSpPr>
        <p:spPr>
          <a:xfrm>
            <a:off x="1451579" y="2015732"/>
            <a:ext cx="9603275" cy="3623068"/>
          </a:xfrm>
        </p:spPr>
        <p:txBody>
          <a:bodyPr>
            <a:normAutofit fontScale="92500" lnSpcReduction="10000"/>
          </a:bodyPr>
          <a:lstStyle/>
          <a:p>
            <a:pPr>
              <a:buFont typeface="Arial" panose="020B0604020202020204" pitchFamily="34" charset="0"/>
              <a:buChar char="•"/>
            </a:pPr>
            <a:r>
              <a:rPr lang="en-US" sz="1700" b="1">
                <a:latin typeface="Tahoma" panose="020B0604030504040204" pitchFamily="34" charset="0"/>
                <a:ea typeface="Tahoma" panose="020B0604030504040204" pitchFamily="34" charset="0"/>
                <a:cs typeface="Tahoma" panose="020B0604030504040204" pitchFamily="34" charset="0"/>
              </a:rPr>
              <a:t>Overfitting Analysis:</a:t>
            </a:r>
            <a:endParaRPr lang="en-US" sz="1700">
              <a:latin typeface="Tahoma" panose="020B0604030504040204" pitchFamily="34" charset="0"/>
              <a:ea typeface="Tahoma" panose="020B0604030504040204" pitchFamily="34" charset="0"/>
              <a:cs typeface="Tahoma" panose="020B0604030504040204" pitchFamily="34" charset="0"/>
            </a:endParaRPr>
          </a:p>
          <a:p>
            <a:pPr marL="742950" lvl="1" indent="-285750">
              <a:buFont typeface="Arial" panose="020B0604020202020204" pitchFamily="34" charset="0"/>
              <a:buChar char="•"/>
            </a:pPr>
            <a:r>
              <a:rPr lang="en-US" sz="1700">
                <a:latin typeface="Tahoma" panose="020B0604030504040204" pitchFamily="34" charset="0"/>
                <a:ea typeface="Tahoma" panose="020B0604030504040204" pitchFamily="34" charset="0"/>
                <a:cs typeface="Tahoma" panose="020B0604030504040204" pitchFamily="34" charset="0"/>
              </a:rPr>
              <a:t>GRU, Transformers, LSTM, and CNN exhibited signs of overfitting (low or negative R² scores).</a:t>
            </a:r>
          </a:p>
          <a:p>
            <a:pPr marL="742950" lvl="1" indent="-285750">
              <a:buFont typeface="Arial" panose="020B0604020202020204" pitchFamily="34" charset="0"/>
              <a:buChar char="•"/>
            </a:pPr>
            <a:r>
              <a:rPr lang="en-US" sz="1700">
                <a:latin typeface="Tahoma" panose="020B0604030504040204" pitchFamily="34" charset="0"/>
                <a:ea typeface="Tahoma" panose="020B0604030504040204" pitchFamily="34" charset="0"/>
                <a:cs typeface="Tahoma" panose="020B0604030504040204" pitchFamily="34" charset="0"/>
              </a:rPr>
              <a:t>GBM and </a:t>
            </a:r>
            <a:r>
              <a:rPr lang="en-US" sz="1700" err="1">
                <a:latin typeface="Tahoma" panose="020B0604030504040204" pitchFamily="34" charset="0"/>
                <a:ea typeface="Tahoma" panose="020B0604030504040204" pitchFamily="34" charset="0"/>
                <a:cs typeface="Tahoma" panose="020B0604030504040204" pitchFamily="34" charset="0"/>
              </a:rPr>
              <a:t>XGBoost</a:t>
            </a:r>
            <a:r>
              <a:rPr lang="en-US" sz="1700">
                <a:latin typeface="Tahoma" panose="020B0604030504040204" pitchFamily="34" charset="0"/>
                <a:ea typeface="Tahoma" panose="020B0604030504040204" pitchFamily="34" charset="0"/>
                <a:cs typeface="Tahoma" panose="020B0604030504040204" pitchFamily="34" charset="0"/>
              </a:rPr>
              <a:t> showed better generalization with fewer deviations.</a:t>
            </a:r>
          </a:p>
          <a:p>
            <a:pPr marL="742950" lvl="1" indent="-285750">
              <a:buFont typeface="Arial" panose="020B0604020202020204" pitchFamily="34" charset="0"/>
              <a:buChar char="•"/>
            </a:pPr>
            <a:r>
              <a:rPr lang="en-US" sz="1700">
                <a:latin typeface="Tahoma" panose="020B0604030504040204" pitchFamily="34" charset="0"/>
                <a:ea typeface="Tahoma" panose="020B0604030504040204" pitchFamily="34" charset="0"/>
                <a:cs typeface="Tahoma" panose="020B0604030504040204" pitchFamily="34" charset="0"/>
              </a:rPr>
              <a:t>Proposed Solutions:</a:t>
            </a:r>
          </a:p>
          <a:p>
            <a:pPr marL="1143000" lvl="2" indent="-228600">
              <a:buFont typeface="Arial" panose="020B0604020202020204" pitchFamily="34" charset="0"/>
              <a:buChar char="•"/>
            </a:pPr>
            <a:r>
              <a:rPr lang="en-US" sz="1700">
                <a:latin typeface="Tahoma" panose="020B0604030504040204" pitchFamily="34" charset="0"/>
                <a:ea typeface="Tahoma" panose="020B0604030504040204" pitchFamily="34" charset="0"/>
                <a:cs typeface="Tahoma" panose="020B0604030504040204" pitchFamily="34" charset="0"/>
              </a:rPr>
              <a:t>Increase dataset size or use synthetic data augmentation.</a:t>
            </a:r>
          </a:p>
          <a:p>
            <a:pPr marL="1143000" lvl="2" indent="-228600">
              <a:buFont typeface="Arial" panose="020B0604020202020204" pitchFamily="34" charset="0"/>
              <a:buChar char="•"/>
            </a:pPr>
            <a:r>
              <a:rPr lang="en-US" sz="1700">
                <a:latin typeface="Tahoma" panose="020B0604030504040204" pitchFamily="34" charset="0"/>
                <a:ea typeface="Tahoma" panose="020B0604030504040204" pitchFamily="34" charset="0"/>
                <a:cs typeface="Tahoma" panose="020B0604030504040204" pitchFamily="34" charset="0"/>
              </a:rPr>
              <a:t>Apply techniques like dropout, early stopping, and regularization for deep learning models.</a:t>
            </a:r>
          </a:p>
          <a:p>
            <a:pPr>
              <a:buFont typeface="Arial" panose="020B0604020202020204" pitchFamily="34" charset="0"/>
              <a:buChar char="•"/>
            </a:pPr>
            <a:r>
              <a:rPr lang="en-US" sz="1700" b="1">
                <a:latin typeface="Tahoma" panose="020B0604030504040204" pitchFamily="34" charset="0"/>
                <a:ea typeface="Tahoma" panose="020B0604030504040204" pitchFamily="34" charset="0"/>
                <a:cs typeface="Tahoma" panose="020B0604030504040204" pitchFamily="34" charset="0"/>
              </a:rPr>
              <a:t>Training Time Comparison:</a:t>
            </a:r>
            <a:endParaRPr lang="en-US" sz="1700">
              <a:latin typeface="Tahoma" panose="020B0604030504040204" pitchFamily="34" charset="0"/>
              <a:ea typeface="Tahoma" panose="020B0604030504040204" pitchFamily="34" charset="0"/>
              <a:cs typeface="Tahoma" panose="020B0604030504040204" pitchFamily="34" charset="0"/>
            </a:endParaRPr>
          </a:p>
          <a:p>
            <a:pPr marL="742950" lvl="1" indent="-285750">
              <a:buFont typeface="Arial" panose="020B0604020202020204" pitchFamily="34" charset="0"/>
              <a:buChar char="•"/>
            </a:pPr>
            <a:r>
              <a:rPr lang="en-US" sz="1700">
                <a:latin typeface="Tahoma" panose="020B0604030504040204" pitchFamily="34" charset="0"/>
                <a:ea typeface="Tahoma" panose="020B0604030504040204" pitchFamily="34" charset="0"/>
                <a:cs typeface="Tahoma" panose="020B0604030504040204" pitchFamily="34" charset="0"/>
              </a:rPr>
              <a:t>GBM and </a:t>
            </a:r>
            <a:r>
              <a:rPr lang="en-US" sz="1700" err="1">
                <a:latin typeface="Tahoma" panose="020B0604030504040204" pitchFamily="34" charset="0"/>
                <a:ea typeface="Tahoma" panose="020B0604030504040204" pitchFamily="34" charset="0"/>
                <a:cs typeface="Tahoma" panose="020B0604030504040204" pitchFamily="34" charset="0"/>
              </a:rPr>
              <a:t>XGBoost</a:t>
            </a:r>
            <a:r>
              <a:rPr lang="en-US" sz="1700">
                <a:latin typeface="Tahoma" panose="020B0604030504040204" pitchFamily="34" charset="0"/>
                <a:ea typeface="Tahoma" panose="020B0604030504040204" pitchFamily="34" charset="0"/>
                <a:cs typeface="Tahoma" panose="020B0604030504040204" pitchFamily="34" charset="0"/>
              </a:rPr>
              <a:t>: Fast training (under 0.3 seconds per epoch).</a:t>
            </a:r>
          </a:p>
          <a:p>
            <a:pPr marL="742950" lvl="1" indent="-285750">
              <a:buFont typeface="Arial" panose="020B0604020202020204" pitchFamily="34" charset="0"/>
              <a:buChar char="•"/>
            </a:pPr>
            <a:r>
              <a:rPr lang="en-US" sz="1700">
                <a:latin typeface="Tahoma" panose="020B0604030504040204" pitchFamily="34" charset="0"/>
                <a:ea typeface="Tahoma" panose="020B0604030504040204" pitchFamily="34" charset="0"/>
                <a:cs typeface="Tahoma" panose="020B0604030504040204" pitchFamily="34" charset="0"/>
              </a:rPr>
              <a:t>Transformers: Most time-intensive (~0.94 seconds per epoch).</a:t>
            </a:r>
          </a:p>
          <a:p>
            <a:pPr marL="742950" lvl="1" indent="-285750">
              <a:buFont typeface="Arial" panose="020B0604020202020204" pitchFamily="34" charset="0"/>
              <a:buChar char="•"/>
            </a:pPr>
            <a:r>
              <a:rPr lang="en-US" sz="1700">
                <a:latin typeface="Tahoma" panose="020B0604030504040204" pitchFamily="34" charset="0"/>
                <a:ea typeface="Tahoma" panose="020B0604030504040204" pitchFamily="34" charset="0"/>
                <a:cs typeface="Tahoma" panose="020B0604030504040204" pitchFamily="34" charset="0"/>
              </a:rPr>
              <a:t>Recommendation: Use tree-based models for time-sensitive scenarios.</a:t>
            </a:r>
          </a:p>
          <a:p>
            <a:endParaRPr lang="el-GR"/>
          </a:p>
        </p:txBody>
      </p:sp>
    </p:spTree>
    <p:extLst>
      <p:ext uri="{BB962C8B-B14F-4D97-AF65-F5344CB8AC3E}">
        <p14:creationId xmlns:p14="http://schemas.microsoft.com/office/powerpoint/2010/main" val="2294649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0CABA0C-3653-E5D1-E990-8D2853630DAA}"/>
              </a:ext>
            </a:extLst>
          </p:cNvPr>
          <p:cNvSpPr>
            <a:spLocks noGrp="1"/>
          </p:cNvSpPr>
          <p:nvPr>
            <p:ph type="title"/>
          </p:nvPr>
        </p:nvSpPr>
        <p:spPr/>
        <p:txBody>
          <a:bodyPr>
            <a:normAutofit/>
          </a:bodyPr>
          <a:lstStyle/>
          <a:p>
            <a:pPr algn="ctr"/>
            <a:r>
              <a:rPr lang="en-US" sz="3600">
                <a:latin typeface="Tahoma" panose="020B0604030504040204" pitchFamily="34" charset="0"/>
                <a:ea typeface="Tahoma" panose="020B0604030504040204" pitchFamily="34" charset="0"/>
                <a:cs typeface="Tahoma" panose="020B0604030504040204" pitchFamily="34" charset="0"/>
              </a:rPr>
              <a:t>Recommendations for Improvement</a:t>
            </a:r>
            <a:endParaRPr lang="el-GR" sz="3600">
              <a:latin typeface="Tahoma" panose="020B0604030504040204" pitchFamily="34" charset="0"/>
              <a:ea typeface="Tahoma" panose="020B0604030504040204" pitchFamily="34" charset="0"/>
              <a:cs typeface="Tahoma" panose="020B0604030504040204" pitchFamily="34" charset="0"/>
            </a:endParaRPr>
          </a:p>
        </p:txBody>
      </p:sp>
      <p:sp>
        <p:nvSpPr>
          <p:cNvPr id="4" name="Rectangle 1">
            <a:extLst>
              <a:ext uri="{FF2B5EF4-FFF2-40B4-BE49-F238E27FC236}">
                <a16:creationId xmlns:a16="http://schemas.microsoft.com/office/drawing/2014/main" id="{EEEE51E5-B90C-7230-1715-7E66DE9900BD}"/>
              </a:ext>
            </a:extLst>
          </p:cNvPr>
          <p:cNvSpPr>
            <a:spLocks noGrp="1" noChangeArrowheads="1"/>
          </p:cNvSpPr>
          <p:nvPr>
            <p:ph idx="1"/>
          </p:nvPr>
        </p:nvSpPr>
        <p:spPr bwMode="auto">
          <a:xfrm>
            <a:off x="1451579" y="2186320"/>
            <a:ext cx="9057288"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l-GR" altLang="el-GR" sz="1800" b="1" i="0" u="none" strike="noStrike" cap="none" normalizeH="0" baseline="0" err="1">
                <a:ln>
                  <a:noFill/>
                </a:ln>
                <a:solidFill>
                  <a:schemeClr val="tx1"/>
                </a:solidFill>
                <a:effectLst/>
                <a:latin typeface="Arial" panose="020B0604020202020204" pitchFamily="34" charset="0"/>
              </a:rPr>
              <a:t>Data</a:t>
            </a:r>
            <a:r>
              <a:rPr kumimoji="0" lang="el-GR" altLang="el-GR" sz="1800" b="1" i="0" u="none" strike="noStrike" cap="none" normalizeH="0" baseline="0">
                <a:ln>
                  <a:noFill/>
                </a:ln>
                <a:solidFill>
                  <a:schemeClr val="tx1"/>
                </a:solidFill>
                <a:effectLst/>
                <a:latin typeface="Arial" panose="020B0604020202020204" pitchFamily="34" charset="0"/>
              </a:rPr>
              <a:t> </a:t>
            </a:r>
            <a:r>
              <a:rPr kumimoji="0" lang="el-GR" altLang="el-GR" sz="1800" b="1" i="0" u="none" strike="noStrike" cap="none" normalizeH="0" baseline="0" err="1">
                <a:ln>
                  <a:noFill/>
                </a:ln>
                <a:solidFill>
                  <a:schemeClr val="tx1"/>
                </a:solidFill>
                <a:effectLst/>
                <a:latin typeface="Arial" panose="020B0604020202020204" pitchFamily="34" charset="0"/>
              </a:rPr>
              <a:t>Enhancement</a:t>
            </a:r>
            <a:r>
              <a:rPr kumimoji="0" lang="el-GR" altLang="el-GR" sz="1800" b="1" i="0" u="none" strike="noStrike" cap="none" normalizeH="0" baseline="0">
                <a:ln>
                  <a:noFill/>
                </a:ln>
                <a:solidFill>
                  <a:schemeClr val="tx1"/>
                </a:solidFill>
                <a:effectLst/>
                <a:latin typeface="Arial" panose="020B0604020202020204" pitchFamily="34" charset="0"/>
              </a:rPr>
              <a:t>:</a:t>
            </a:r>
            <a:endParaRPr kumimoji="0" lang="el-GR" altLang="el-GR" sz="1800" b="0" i="0" u="none" strike="noStrike" cap="none" normalizeH="0" baseline="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lang="el-GR" altLang="el-GR" sz="1600" err="1">
                <a:latin typeface="Arial" panose="020B0604020202020204" pitchFamily="34" charset="0"/>
              </a:rPr>
              <a:t>Collect</a:t>
            </a:r>
            <a:r>
              <a:rPr lang="el-GR" altLang="el-GR" sz="1600">
                <a:latin typeface="Arial" panose="020B0604020202020204" pitchFamily="34" charset="0"/>
              </a:rPr>
              <a:t> </a:t>
            </a:r>
            <a:r>
              <a:rPr lang="el-GR" altLang="el-GR" sz="1600" err="1">
                <a:latin typeface="Arial" panose="020B0604020202020204" pitchFamily="34" charset="0"/>
              </a:rPr>
              <a:t>more</a:t>
            </a:r>
            <a:r>
              <a:rPr lang="el-GR" altLang="el-GR" sz="1600">
                <a:latin typeface="Arial" panose="020B0604020202020204" pitchFamily="34" charset="0"/>
              </a:rPr>
              <a:t> </a:t>
            </a:r>
            <a:r>
              <a:rPr lang="el-GR" altLang="el-GR" sz="1600" err="1">
                <a:latin typeface="Arial" panose="020B0604020202020204" pitchFamily="34" charset="0"/>
              </a:rPr>
              <a:t>diverse</a:t>
            </a:r>
            <a:r>
              <a:rPr lang="el-GR" altLang="el-GR" sz="1600">
                <a:latin typeface="Arial" panose="020B0604020202020204" pitchFamily="34" charset="0"/>
              </a:rPr>
              <a:t> and </a:t>
            </a:r>
            <a:r>
              <a:rPr lang="el-GR" altLang="el-GR" sz="1600" err="1">
                <a:latin typeface="Arial" panose="020B0604020202020204" pitchFamily="34" charset="0"/>
              </a:rPr>
              <a:t>larger</a:t>
            </a:r>
            <a:r>
              <a:rPr lang="el-GR" altLang="el-GR" sz="1600">
                <a:latin typeface="Arial" panose="020B0604020202020204" pitchFamily="34" charset="0"/>
              </a:rPr>
              <a:t> </a:t>
            </a:r>
            <a:r>
              <a:rPr lang="el-GR" altLang="el-GR" sz="1600" err="1">
                <a:latin typeface="Arial" panose="020B0604020202020204" pitchFamily="34" charset="0"/>
              </a:rPr>
              <a:t>datasets</a:t>
            </a:r>
            <a:r>
              <a:rPr lang="el-GR" altLang="el-GR" sz="1600">
                <a:latin typeface="Arial" panose="020B0604020202020204" pitchFamily="34" charset="0"/>
              </a:rPr>
              <a:t> </a:t>
            </a:r>
            <a:r>
              <a:rPr lang="el-GR" altLang="el-GR" sz="1600" err="1">
                <a:latin typeface="Arial" panose="020B0604020202020204" pitchFamily="34" charset="0"/>
              </a:rPr>
              <a:t>to</a:t>
            </a:r>
            <a:r>
              <a:rPr lang="el-GR" altLang="el-GR" sz="1600">
                <a:latin typeface="Arial" panose="020B0604020202020204" pitchFamily="34" charset="0"/>
              </a:rPr>
              <a:t> </a:t>
            </a:r>
            <a:r>
              <a:rPr lang="el-GR" altLang="el-GR" sz="1600" err="1">
                <a:latin typeface="Arial" panose="020B0604020202020204" pitchFamily="34" charset="0"/>
              </a:rPr>
              <a:t>improve</a:t>
            </a:r>
            <a:r>
              <a:rPr lang="el-GR" altLang="el-GR" sz="1600">
                <a:latin typeface="Arial" panose="020B0604020202020204" pitchFamily="34" charset="0"/>
              </a:rPr>
              <a:t> </a:t>
            </a:r>
            <a:r>
              <a:rPr lang="el-GR" altLang="el-GR" sz="1600" err="1">
                <a:latin typeface="Arial" panose="020B0604020202020204" pitchFamily="34" charset="0"/>
              </a:rPr>
              <a:t>deep</a:t>
            </a:r>
            <a:r>
              <a:rPr lang="el-GR" altLang="el-GR" sz="1600">
                <a:latin typeface="Arial" panose="020B0604020202020204" pitchFamily="34" charset="0"/>
              </a:rPr>
              <a:t> </a:t>
            </a:r>
            <a:r>
              <a:rPr lang="el-GR" altLang="el-GR" sz="1600" err="1">
                <a:latin typeface="Arial" panose="020B0604020202020204" pitchFamily="34" charset="0"/>
              </a:rPr>
              <a:t>learning</a:t>
            </a:r>
            <a:r>
              <a:rPr lang="el-GR" altLang="el-GR" sz="1600">
                <a:latin typeface="Arial" panose="020B0604020202020204" pitchFamily="34" charset="0"/>
              </a:rPr>
              <a:t> </a:t>
            </a:r>
            <a:r>
              <a:rPr lang="el-GR" altLang="el-GR" sz="1600" err="1">
                <a:latin typeface="Arial" panose="020B0604020202020204" pitchFamily="34" charset="0"/>
              </a:rPr>
              <a:t>performance</a:t>
            </a:r>
            <a:r>
              <a:rPr lang="el-GR" altLang="el-GR" sz="1600">
                <a:latin typeface="Arial" panose="020B0604020202020204" pitchFamily="34" charset="0"/>
              </a:rPr>
              <a:t>.</a:t>
            </a:r>
          </a:p>
          <a:p>
            <a:pPr marL="457200" lvl="1" indent="0" eaLnBrk="0" fontAlgn="base" hangingPunct="0">
              <a:lnSpc>
                <a:spcPct val="100000"/>
              </a:lnSpc>
              <a:spcBef>
                <a:spcPct val="0"/>
              </a:spcBef>
              <a:spcAft>
                <a:spcPct val="0"/>
              </a:spcAft>
              <a:buClrTx/>
              <a:buSzTx/>
              <a:buFontTx/>
              <a:buChar char="•"/>
            </a:pPr>
            <a:r>
              <a:rPr lang="el-GR" altLang="el-GR" sz="1600" err="1">
                <a:latin typeface="Arial" panose="020B0604020202020204" pitchFamily="34" charset="0"/>
              </a:rPr>
              <a:t>Consider</a:t>
            </a:r>
            <a:r>
              <a:rPr lang="el-GR" altLang="el-GR" sz="1600">
                <a:latin typeface="Arial" panose="020B0604020202020204" pitchFamily="34" charset="0"/>
              </a:rPr>
              <a:t> </a:t>
            </a:r>
            <a:r>
              <a:rPr lang="el-GR" altLang="el-GR" sz="1600" err="1">
                <a:latin typeface="Arial" panose="020B0604020202020204" pitchFamily="34" charset="0"/>
              </a:rPr>
              <a:t>using</a:t>
            </a:r>
            <a:r>
              <a:rPr lang="el-GR" altLang="el-GR" sz="1600">
                <a:latin typeface="Arial" panose="020B0604020202020204" pitchFamily="34" charset="0"/>
              </a:rPr>
              <a:t> </a:t>
            </a:r>
            <a:r>
              <a:rPr lang="el-GR" altLang="el-GR" sz="1600" err="1">
                <a:latin typeface="Arial" panose="020B0604020202020204" pitchFamily="34" charset="0"/>
              </a:rPr>
              <a:t>pre-trained</a:t>
            </a:r>
            <a:r>
              <a:rPr lang="el-GR" altLang="el-GR" sz="1600">
                <a:latin typeface="Arial" panose="020B0604020202020204" pitchFamily="34" charset="0"/>
              </a:rPr>
              <a:t> </a:t>
            </a:r>
            <a:r>
              <a:rPr lang="el-GR" altLang="el-GR" sz="1600" err="1">
                <a:latin typeface="Arial" panose="020B0604020202020204" pitchFamily="34" charset="0"/>
              </a:rPr>
              <a:t>models</a:t>
            </a:r>
            <a:r>
              <a:rPr lang="el-GR" altLang="el-GR" sz="1600">
                <a:latin typeface="Arial" panose="020B0604020202020204" pitchFamily="34" charset="0"/>
              </a:rPr>
              <a:t> </a:t>
            </a:r>
            <a:r>
              <a:rPr lang="el-GR" altLang="el-GR" sz="1600" err="1">
                <a:latin typeface="Arial" panose="020B0604020202020204" pitchFamily="34" charset="0"/>
              </a:rPr>
              <a:t>or</a:t>
            </a:r>
            <a:r>
              <a:rPr lang="el-GR" altLang="el-GR" sz="1600">
                <a:latin typeface="Arial" panose="020B0604020202020204" pitchFamily="34" charset="0"/>
              </a:rPr>
              <a:t> </a:t>
            </a:r>
            <a:r>
              <a:rPr lang="el-GR" altLang="el-GR" sz="1600" err="1">
                <a:latin typeface="Arial" panose="020B0604020202020204" pitchFamily="34" charset="0"/>
              </a:rPr>
              <a:t>transfer</a:t>
            </a:r>
            <a:r>
              <a:rPr lang="el-GR" altLang="el-GR" sz="1600">
                <a:latin typeface="Arial" panose="020B0604020202020204" pitchFamily="34" charset="0"/>
              </a:rPr>
              <a:t> </a:t>
            </a:r>
            <a:r>
              <a:rPr lang="el-GR" altLang="el-GR" sz="1600" err="1">
                <a:latin typeface="Arial" panose="020B0604020202020204" pitchFamily="34" charset="0"/>
              </a:rPr>
              <a:t>learning</a:t>
            </a:r>
            <a:r>
              <a:rPr lang="el-GR" altLang="el-GR" sz="1600">
                <a:latin typeface="Arial" panose="020B0604020202020204" pitchFamily="34" charset="0"/>
              </a:rPr>
              <a:t> for </a:t>
            </a:r>
            <a:r>
              <a:rPr lang="el-GR" altLang="el-GR" sz="1600" err="1">
                <a:latin typeface="Arial" panose="020B0604020202020204" pitchFamily="34" charset="0"/>
              </a:rPr>
              <a:t>resource</a:t>
            </a:r>
            <a:r>
              <a:rPr lang="el-GR" altLang="el-GR" sz="1600">
                <a:latin typeface="Arial" panose="020B0604020202020204" pitchFamily="34" charset="0"/>
              </a:rPr>
              <a:t> </a:t>
            </a:r>
            <a:r>
              <a:rPr lang="el-GR" altLang="el-GR" sz="1600" err="1">
                <a:latin typeface="Arial" panose="020B0604020202020204" pitchFamily="34" charset="0"/>
              </a:rPr>
              <a:t>efficiency</a:t>
            </a:r>
            <a:r>
              <a:rPr lang="el-GR" altLang="el-GR" sz="1600">
                <a:latin typeface="Arial" panose="020B0604020202020204" pitchFamily="34" charset="0"/>
              </a:rPr>
              <a:t>.</a:t>
            </a:r>
            <a:endParaRPr lang="en-US" altLang="el-GR" sz="1600">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endParaRPr lang="el-GR" altLang="el-GR" sz="16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l-GR" altLang="el-GR" sz="1800" b="1" i="0" u="none" strike="noStrike" cap="none" normalizeH="0" baseline="0" err="1">
                <a:ln>
                  <a:noFill/>
                </a:ln>
                <a:solidFill>
                  <a:schemeClr val="tx1"/>
                </a:solidFill>
                <a:effectLst/>
                <a:latin typeface="Arial" panose="020B0604020202020204" pitchFamily="34" charset="0"/>
              </a:rPr>
              <a:t>Feature</a:t>
            </a:r>
            <a:r>
              <a:rPr kumimoji="0" lang="el-GR" altLang="el-GR" sz="1800" b="1" i="0" u="none" strike="noStrike" cap="none" normalizeH="0" baseline="0">
                <a:ln>
                  <a:noFill/>
                </a:ln>
                <a:solidFill>
                  <a:schemeClr val="tx1"/>
                </a:solidFill>
                <a:effectLst/>
                <a:latin typeface="Arial" panose="020B0604020202020204" pitchFamily="34" charset="0"/>
              </a:rPr>
              <a:t> </a:t>
            </a:r>
            <a:r>
              <a:rPr kumimoji="0" lang="el-GR" altLang="el-GR" sz="1800" b="1" i="0" u="none" strike="noStrike" cap="none" normalizeH="0" baseline="0" err="1">
                <a:ln>
                  <a:noFill/>
                </a:ln>
                <a:solidFill>
                  <a:schemeClr val="tx1"/>
                </a:solidFill>
                <a:effectLst/>
                <a:latin typeface="Arial" panose="020B0604020202020204" pitchFamily="34" charset="0"/>
              </a:rPr>
              <a:t>Engineering</a:t>
            </a:r>
            <a:r>
              <a:rPr kumimoji="0" lang="el-GR" altLang="el-GR" sz="1800" b="1" i="0" u="none" strike="noStrike" cap="none" normalizeH="0" baseline="0">
                <a:ln>
                  <a:noFill/>
                </a:ln>
                <a:solidFill>
                  <a:schemeClr val="tx1"/>
                </a:solidFill>
                <a:effectLst/>
                <a:latin typeface="Arial" panose="020B0604020202020204" pitchFamily="34" charset="0"/>
              </a:rPr>
              <a:t>:</a:t>
            </a:r>
            <a:endParaRPr kumimoji="0" lang="el-GR" altLang="el-GR" sz="1800" b="0" i="0" u="none" strike="noStrike" cap="none" normalizeH="0" baseline="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l-GR" altLang="el-GR" sz="1600" b="0" i="0" u="none" strike="noStrike" cap="none" normalizeH="0" baseline="0" err="1">
                <a:ln>
                  <a:noFill/>
                </a:ln>
                <a:solidFill>
                  <a:schemeClr val="tx1"/>
                </a:solidFill>
                <a:effectLst/>
                <a:latin typeface="Arial" panose="020B0604020202020204" pitchFamily="34" charset="0"/>
              </a:rPr>
              <a:t>Refine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time-series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features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e.g</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lag</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features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rolling</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statistics</a:t>
            </a:r>
            <a:r>
              <a:rPr kumimoji="0" lang="el-GR" altLang="el-GR" sz="1600" b="0" i="0" u="none" strike="noStrike" cap="none" normalizeH="0" baseline="0">
                <a:ln>
                  <a:noFill/>
                </a:ln>
                <a:solidFill>
                  <a:schemeClr val="tx1"/>
                </a:solidFill>
                <a:effectLst/>
                <a:latin typeface="Arial" panose="020B0604020202020204" pitchFamily="34" charset="0"/>
              </a:rPr>
              <a:t>) for GBM and </a:t>
            </a:r>
            <a:r>
              <a:rPr kumimoji="0" lang="el-GR" altLang="el-GR" sz="1600" b="0" i="0" u="none" strike="noStrike" cap="none" normalizeH="0" baseline="0" err="1">
                <a:ln>
                  <a:noFill/>
                </a:ln>
                <a:solidFill>
                  <a:schemeClr val="tx1"/>
                </a:solidFill>
                <a:effectLst/>
                <a:latin typeface="Arial" panose="020B0604020202020204" pitchFamily="34" charset="0"/>
              </a:rPr>
              <a:t>XGBoost</a:t>
            </a:r>
            <a:r>
              <a:rPr kumimoji="0" lang="el-GR" altLang="el-GR" sz="1600" b="0" i="0" u="none" strike="noStrike" cap="none" normalizeH="0" baseline="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ClrTx/>
              <a:buSzTx/>
              <a:buFontTx/>
              <a:buChar char="•"/>
            </a:pPr>
            <a:r>
              <a:rPr kumimoji="0" lang="el-GR" altLang="el-GR" sz="1600" b="0" i="0" u="none" strike="noStrike" cap="none" normalizeH="0" baseline="0" err="1">
                <a:ln>
                  <a:noFill/>
                </a:ln>
                <a:solidFill>
                  <a:schemeClr val="tx1"/>
                </a:solidFill>
                <a:effectLst/>
                <a:latin typeface="Arial" panose="020B0604020202020204" pitchFamily="34" charset="0"/>
              </a:rPr>
              <a:t>Explore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additional</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cyclical</a:t>
            </a:r>
            <a:r>
              <a:rPr kumimoji="0" lang="el-GR" altLang="el-GR" sz="1600" b="0" i="0" u="none" strike="noStrike" cap="none" normalizeH="0" baseline="0">
                <a:ln>
                  <a:noFill/>
                </a:ln>
                <a:solidFill>
                  <a:schemeClr val="tx1"/>
                </a:solidFill>
                <a:effectLst/>
                <a:latin typeface="Arial" panose="020B0604020202020204" pitchFamily="34" charset="0"/>
              </a:rPr>
              <a:t> and </a:t>
            </a:r>
            <a:r>
              <a:rPr kumimoji="0" lang="el-GR" altLang="el-GR" sz="1600" b="0" i="0" u="none" strike="noStrike" cap="none" normalizeH="0" baseline="0" err="1">
                <a:ln>
                  <a:noFill/>
                </a:ln>
                <a:solidFill>
                  <a:schemeClr val="tx1"/>
                </a:solidFill>
                <a:effectLst/>
                <a:latin typeface="Arial" panose="020B0604020202020204" pitchFamily="34" charset="0"/>
              </a:rPr>
              <a:t>interaction</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features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to</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improve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model</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accuracy</a:t>
            </a:r>
            <a:r>
              <a:rPr kumimoji="0" lang="el-GR" altLang="el-GR" sz="1600" b="0" i="0" u="none" strike="noStrike" cap="none" normalizeH="0" baseline="0">
                <a:ln>
                  <a:noFill/>
                </a:ln>
                <a:solidFill>
                  <a:schemeClr val="tx1"/>
                </a:solidFill>
                <a:effectLst/>
                <a:latin typeface="Arial" panose="020B0604020202020204" pitchFamily="34" charset="0"/>
              </a:rPr>
              <a:t>.</a:t>
            </a:r>
            <a:endParaRPr kumimoji="0" lang="en-US" altLang="el-GR" sz="1600" b="0" i="0" u="none" strike="noStrike" cap="none" normalizeH="0" baseline="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endParaRPr kumimoji="0" lang="el-GR" altLang="el-G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l-GR" altLang="el-GR" sz="1800" b="1" i="0" u="none" strike="noStrike" cap="none" normalizeH="0" baseline="0" err="1">
                <a:ln>
                  <a:noFill/>
                </a:ln>
                <a:solidFill>
                  <a:schemeClr val="tx1"/>
                </a:solidFill>
                <a:effectLst/>
                <a:latin typeface="Arial" panose="020B0604020202020204" pitchFamily="34" charset="0"/>
              </a:rPr>
              <a:t>Hyperparameter</a:t>
            </a:r>
            <a:r>
              <a:rPr kumimoji="0" lang="el-GR" altLang="el-GR" sz="1800" b="1" i="0" u="none" strike="noStrike" cap="none" normalizeH="0" baseline="0">
                <a:ln>
                  <a:noFill/>
                </a:ln>
                <a:solidFill>
                  <a:schemeClr val="tx1"/>
                </a:solidFill>
                <a:effectLst/>
                <a:latin typeface="Arial" panose="020B0604020202020204" pitchFamily="34" charset="0"/>
              </a:rPr>
              <a:t> </a:t>
            </a:r>
            <a:r>
              <a:rPr kumimoji="0" lang="el-GR" altLang="el-GR" sz="1800" b="1" i="0" u="none" strike="noStrike" cap="none" normalizeH="0" baseline="0" err="1">
                <a:ln>
                  <a:noFill/>
                </a:ln>
                <a:solidFill>
                  <a:schemeClr val="tx1"/>
                </a:solidFill>
                <a:effectLst/>
                <a:latin typeface="Arial" panose="020B0604020202020204" pitchFamily="34" charset="0"/>
              </a:rPr>
              <a:t>Tuning</a:t>
            </a:r>
            <a:r>
              <a:rPr kumimoji="0" lang="el-GR" altLang="el-GR" sz="1800" b="1" i="0" u="none" strike="noStrike" cap="none" normalizeH="0" baseline="0">
                <a:ln>
                  <a:noFill/>
                </a:ln>
                <a:solidFill>
                  <a:schemeClr val="tx1"/>
                </a:solidFill>
                <a:effectLst/>
                <a:latin typeface="Arial" panose="020B0604020202020204" pitchFamily="34" charset="0"/>
              </a:rPr>
              <a:t>:</a:t>
            </a:r>
            <a:endParaRPr kumimoji="0" lang="el-GR" altLang="el-GR" sz="1800" b="0" i="0" u="none" strike="noStrike" cap="none" normalizeH="0" baseline="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l-GR" altLang="el-GR" sz="1600" b="0" i="0" u="none" strike="noStrike" cap="none" normalizeH="0" baseline="0" err="1">
                <a:ln>
                  <a:noFill/>
                </a:ln>
                <a:solidFill>
                  <a:schemeClr val="tx1"/>
                </a:solidFill>
                <a:effectLst/>
                <a:latin typeface="Arial" panose="020B0604020202020204" pitchFamily="34" charset="0"/>
              </a:rPr>
              <a:t>Fine-tune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model</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parameters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like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learning</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rate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number</a:t>
            </a:r>
            <a:r>
              <a:rPr kumimoji="0" lang="el-GR" altLang="el-GR" sz="1600" b="0" i="0" u="none" strike="noStrike" cap="none" normalizeH="0" baseline="0">
                <a:ln>
                  <a:noFill/>
                </a:ln>
                <a:solidFill>
                  <a:schemeClr val="tx1"/>
                </a:solidFill>
                <a:effectLst/>
                <a:latin typeface="Arial" panose="020B0604020202020204" pitchFamily="34" charset="0"/>
              </a:rPr>
              <a:t> of </a:t>
            </a:r>
            <a:r>
              <a:rPr kumimoji="0" lang="el-GR" altLang="el-GR" sz="1600" b="0" i="0" u="none" strike="noStrike" cap="none" normalizeH="0" baseline="0" err="1">
                <a:ln>
                  <a:noFill/>
                </a:ln>
                <a:solidFill>
                  <a:schemeClr val="tx1"/>
                </a:solidFill>
                <a:effectLst/>
                <a:latin typeface="Arial" panose="020B0604020202020204" pitchFamily="34" charset="0"/>
              </a:rPr>
              <a:t>layers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dropout</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rates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etc</a:t>
            </a:r>
            <a:r>
              <a:rPr kumimoji="0" lang="el-GR" altLang="el-GR" sz="1600" b="0" i="0" u="none" strike="noStrike" cap="none" normalizeH="0" baseline="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ClrTx/>
              <a:buSzTx/>
              <a:buFontTx/>
              <a:buChar char="•"/>
            </a:pPr>
            <a:r>
              <a:rPr kumimoji="0" lang="el-GR" altLang="el-GR" sz="1600" b="0" i="0" u="none" strike="noStrike" cap="none" normalizeH="0" baseline="0" err="1">
                <a:ln>
                  <a:noFill/>
                </a:ln>
                <a:solidFill>
                  <a:schemeClr val="tx1"/>
                </a:solidFill>
                <a:effectLst/>
                <a:latin typeface="Arial" panose="020B0604020202020204" pitchFamily="34" charset="0"/>
              </a:rPr>
              <a:t>Use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automated</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tools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e.g</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Grid</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Search</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Bayesian</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Optimization</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to</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streamline</a:t>
            </a:r>
            <a:r>
              <a:rPr kumimoji="0" lang="el-GR" altLang="el-GR" sz="1600" b="0" i="0" u="none" strike="noStrike" cap="none" normalizeH="0" baseline="0">
                <a:ln>
                  <a:noFill/>
                </a:ln>
                <a:solidFill>
                  <a:schemeClr val="tx1"/>
                </a:solidFill>
                <a:effectLst/>
                <a:latin typeface="Arial" panose="020B0604020202020204" pitchFamily="34" charset="0"/>
              </a:rPr>
              <a:t> the </a:t>
            </a:r>
            <a:r>
              <a:rPr kumimoji="0" lang="el-GR" altLang="el-GR" sz="1600" b="0" i="0" u="none" strike="noStrike" cap="none" normalizeH="0" baseline="0" err="1">
                <a:ln>
                  <a:noFill/>
                </a:ln>
                <a:solidFill>
                  <a:schemeClr val="tx1"/>
                </a:solidFill>
                <a:effectLst/>
                <a:latin typeface="Arial" panose="020B0604020202020204" pitchFamily="34" charset="0"/>
              </a:rPr>
              <a:t>process</a:t>
            </a:r>
            <a:r>
              <a:rPr kumimoji="0" lang="el-GR" altLang="el-GR" sz="16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l-GR" altLang="el-G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2533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A2BDB1A-EAD1-8CCF-C30E-732BE46CD759}"/>
              </a:ext>
            </a:extLst>
          </p:cNvPr>
          <p:cNvSpPr>
            <a:spLocks noGrp="1"/>
          </p:cNvSpPr>
          <p:nvPr>
            <p:ph type="title"/>
          </p:nvPr>
        </p:nvSpPr>
        <p:spPr/>
        <p:txBody>
          <a:bodyPr>
            <a:noAutofit/>
          </a:bodyPr>
          <a:lstStyle/>
          <a:p>
            <a:pPr algn="ctr"/>
            <a:r>
              <a:rPr lang="en-US" sz="3600">
                <a:latin typeface="Tahoma" panose="020B0604030504040204" pitchFamily="34" charset="0"/>
                <a:ea typeface="Tahoma" panose="020B0604030504040204" pitchFamily="34" charset="0"/>
                <a:cs typeface="Tahoma" panose="020B0604030504040204" pitchFamily="34" charset="0"/>
              </a:rPr>
              <a:t>Conclusion and Practical Implications</a:t>
            </a:r>
            <a:endParaRPr lang="el-GR" sz="3600">
              <a:latin typeface="Tahoma" panose="020B0604030504040204" pitchFamily="34" charset="0"/>
              <a:ea typeface="Tahoma" panose="020B0604030504040204" pitchFamily="34" charset="0"/>
              <a:cs typeface="Tahoma" panose="020B0604030504040204" pitchFamily="34" charset="0"/>
            </a:endParaRPr>
          </a:p>
        </p:txBody>
      </p:sp>
      <p:sp>
        <p:nvSpPr>
          <p:cNvPr id="4" name="Rectangle 1">
            <a:extLst>
              <a:ext uri="{FF2B5EF4-FFF2-40B4-BE49-F238E27FC236}">
                <a16:creationId xmlns:a16="http://schemas.microsoft.com/office/drawing/2014/main" id="{5C9344CE-914C-7E61-0814-1D3259FB0F90}"/>
              </a:ext>
            </a:extLst>
          </p:cNvPr>
          <p:cNvSpPr>
            <a:spLocks noGrp="1" noChangeArrowheads="1"/>
          </p:cNvSpPr>
          <p:nvPr>
            <p:ph idx="1"/>
          </p:nvPr>
        </p:nvSpPr>
        <p:spPr bwMode="auto">
          <a:xfrm>
            <a:off x="1451579" y="2155989"/>
            <a:ext cx="828464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l-GR" altLang="el-GR" sz="1800" b="1" i="0" u="none" strike="noStrike" cap="none" normalizeH="0" baseline="0">
                <a:ln>
                  <a:noFill/>
                </a:ln>
                <a:solidFill>
                  <a:schemeClr val="tx1"/>
                </a:solidFill>
                <a:effectLst/>
                <a:latin typeface="Arial" panose="020B0604020202020204" pitchFamily="34" charset="0"/>
              </a:rPr>
              <a:t>Best </a:t>
            </a:r>
            <a:r>
              <a:rPr kumimoji="0" lang="el-GR" altLang="el-GR" sz="1800" b="1" i="0" u="none" strike="noStrike" cap="none" normalizeH="0" baseline="0" err="1">
                <a:ln>
                  <a:noFill/>
                </a:ln>
                <a:solidFill>
                  <a:schemeClr val="tx1"/>
                </a:solidFill>
                <a:effectLst/>
                <a:latin typeface="Arial" panose="020B0604020202020204" pitchFamily="34" charset="0"/>
              </a:rPr>
              <a:t>Models</a:t>
            </a:r>
            <a:r>
              <a:rPr kumimoji="0" lang="el-GR" altLang="el-GR" sz="1800" b="1" i="0" u="none" strike="noStrike" cap="none" normalizeH="0" baseline="0">
                <a:ln>
                  <a:noFill/>
                </a:ln>
                <a:solidFill>
                  <a:schemeClr val="tx1"/>
                </a:solidFill>
                <a:effectLst/>
                <a:latin typeface="Arial" panose="020B0604020202020204" pitchFamily="34" charset="0"/>
              </a:rPr>
              <a:t>:</a:t>
            </a:r>
            <a:endParaRPr kumimoji="0" lang="el-GR" altLang="el-GR" sz="1800" b="0" i="0" u="none" strike="noStrike" cap="none" normalizeH="0" baseline="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l-GR" altLang="el-GR" sz="1600" b="0" i="0" u="none" strike="noStrike" cap="none" normalizeH="0" baseline="0">
                <a:ln>
                  <a:noFill/>
                </a:ln>
                <a:solidFill>
                  <a:schemeClr val="tx1"/>
                </a:solidFill>
                <a:effectLst/>
                <a:latin typeface="Arial" panose="020B0604020202020204" pitchFamily="34" charset="0"/>
              </a:rPr>
              <a:t>GBM and </a:t>
            </a:r>
            <a:r>
              <a:rPr kumimoji="0" lang="el-GR" altLang="el-GR" sz="1600" b="0" i="0" u="none" strike="noStrike" cap="none" normalizeH="0" baseline="0" err="1">
                <a:ln>
                  <a:noFill/>
                </a:ln>
                <a:solidFill>
                  <a:schemeClr val="tx1"/>
                </a:solidFill>
                <a:effectLst/>
                <a:latin typeface="Arial" panose="020B0604020202020204" pitchFamily="34" charset="0"/>
              </a:rPr>
              <a:t>XGBoost</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are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most</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reliable</a:t>
            </a:r>
            <a:r>
              <a:rPr kumimoji="0" lang="el-GR" altLang="el-GR" sz="1600" b="0" i="0" u="none" strike="noStrike" cap="none" normalizeH="0" baseline="0">
                <a:ln>
                  <a:noFill/>
                </a:ln>
                <a:solidFill>
                  <a:schemeClr val="tx1"/>
                </a:solidFill>
                <a:effectLst/>
                <a:latin typeface="Arial" panose="020B0604020202020204" pitchFamily="34" charset="0"/>
              </a:rPr>
              <a:t> for </a:t>
            </a:r>
            <a:r>
              <a:rPr kumimoji="0" lang="el-GR" altLang="el-GR" sz="1600" b="0" i="0" u="none" strike="noStrike" cap="none" normalizeH="0" baseline="0" err="1">
                <a:ln>
                  <a:noFill/>
                </a:ln>
                <a:solidFill>
                  <a:schemeClr val="tx1"/>
                </a:solidFill>
                <a:effectLst/>
                <a:latin typeface="Arial" panose="020B0604020202020204" pitchFamily="34" charset="0"/>
              </a:rPr>
              <a:t>this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dataset</a:t>
            </a:r>
            <a:r>
              <a:rPr kumimoji="0" lang="el-GR" altLang="el-GR" sz="1600" b="0" i="0" u="none" strike="noStrike" cap="none" normalizeH="0" baseline="0">
                <a:ln>
                  <a:noFill/>
                </a:ln>
                <a:solidFill>
                  <a:schemeClr val="tx1"/>
                </a:solidFill>
                <a:effectLst/>
                <a:latin typeface="Arial" panose="020B0604020202020204" pitchFamily="34" charset="0"/>
              </a:rPr>
              <a:t> and </a:t>
            </a:r>
            <a:r>
              <a:rPr kumimoji="0" lang="el-GR" altLang="el-GR" sz="1600" b="0" i="0" u="none" strike="noStrike" cap="none" normalizeH="0" baseline="0" err="1">
                <a:ln>
                  <a:noFill/>
                </a:ln>
                <a:solidFill>
                  <a:schemeClr val="tx1"/>
                </a:solidFill>
                <a:effectLst/>
                <a:latin typeface="Arial" panose="020B0604020202020204" pitchFamily="34" charset="0"/>
              </a:rPr>
              <a:t>computational</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constraints</a:t>
            </a:r>
            <a:r>
              <a:rPr kumimoji="0" lang="el-GR" altLang="el-GR" sz="1600" b="0" i="0" u="none" strike="noStrike" cap="none" normalizeH="0" baseline="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ClrTx/>
              <a:buSzTx/>
              <a:buFontTx/>
              <a:buChar char="•"/>
            </a:pPr>
            <a:r>
              <a:rPr kumimoji="0" lang="el-GR" altLang="el-GR" sz="1600" b="0" i="0" u="none" strike="noStrike" cap="none" normalizeH="0" baseline="0" err="1">
                <a:ln>
                  <a:noFill/>
                </a:ln>
                <a:solidFill>
                  <a:schemeClr val="tx1"/>
                </a:solidFill>
                <a:effectLst/>
                <a:latin typeface="Arial" panose="020B0604020202020204" pitchFamily="34" charset="0"/>
              </a:rPr>
              <a:t>Deep</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learning</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models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show</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potential</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but</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require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more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resources</a:t>
            </a:r>
            <a:r>
              <a:rPr kumimoji="0" lang="el-GR" altLang="el-GR" sz="1600" b="0" i="0" u="none" strike="noStrike" cap="none" normalizeH="0" baseline="0">
                <a:ln>
                  <a:noFill/>
                </a:ln>
                <a:solidFill>
                  <a:schemeClr val="tx1"/>
                </a:solidFill>
                <a:effectLst/>
                <a:latin typeface="Arial" panose="020B0604020202020204" pitchFamily="34" charset="0"/>
              </a:rPr>
              <a:t> and </a:t>
            </a:r>
            <a:r>
              <a:rPr kumimoji="0" lang="el-GR" altLang="el-GR" sz="1600" b="0" i="0" u="none" strike="noStrike" cap="none" normalizeH="0" baseline="0" err="1">
                <a:ln>
                  <a:noFill/>
                </a:ln>
                <a:solidFill>
                  <a:schemeClr val="tx1"/>
                </a:solidFill>
                <a:effectLst/>
                <a:latin typeface="Arial" panose="020B0604020202020204" pitchFamily="34" charset="0"/>
              </a:rPr>
              <a:t>data</a:t>
            </a:r>
            <a:r>
              <a:rPr kumimoji="0" lang="el-GR" altLang="el-GR" sz="1600" b="0" i="0" u="none" strike="noStrike" cap="none" normalizeH="0" baseline="0">
                <a:ln>
                  <a:noFill/>
                </a:ln>
                <a:solidFill>
                  <a:schemeClr val="tx1"/>
                </a:solidFill>
                <a:effectLst/>
                <a:latin typeface="Arial" panose="020B0604020202020204" pitchFamily="34" charset="0"/>
              </a:rPr>
              <a:t>.</a:t>
            </a:r>
            <a:endParaRPr kumimoji="0" lang="en-US" altLang="el-GR" sz="1600" b="0" i="0" u="none" strike="noStrike" cap="none" normalizeH="0" baseline="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endParaRPr kumimoji="0" lang="el-GR" altLang="el-G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l-GR" altLang="el-GR" sz="1800" b="1" i="0" u="none" strike="noStrike" cap="none" normalizeH="0" baseline="0" err="1">
                <a:ln>
                  <a:noFill/>
                </a:ln>
                <a:solidFill>
                  <a:schemeClr val="tx1"/>
                </a:solidFill>
                <a:effectLst/>
                <a:latin typeface="Arial" panose="020B0604020202020204" pitchFamily="34" charset="0"/>
              </a:rPr>
              <a:t>Practical</a:t>
            </a:r>
            <a:r>
              <a:rPr kumimoji="0" lang="el-GR" altLang="el-GR" sz="1800" b="1" i="0" u="none" strike="noStrike" cap="none" normalizeH="0" baseline="0">
                <a:ln>
                  <a:noFill/>
                </a:ln>
                <a:solidFill>
                  <a:schemeClr val="tx1"/>
                </a:solidFill>
                <a:effectLst/>
                <a:latin typeface="Arial" panose="020B0604020202020204" pitchFamily="34" charset="0"/>
              </a:rPr>
              <a:t> </a:t>
            </a:r>
            <a:r>
              <a:rPr kumimoji="0" lang="el-GR" altLang="el-GR" sz="1800" b="1" i="0" u="none" strike="noStrike" cap="none" normalizeH="0" baseline="0" err="1">
                <a:ln>
                  <a:noFill/>
                </a:ln>
                <a:solidFill>
                  <a:schemeClr val="tx1"/>
                </a:solidFill>
                <a:effectLst/>
                <a:latin typeface="Arial" panose="020B0604020202020204" pitchFamily="34" charset="0"/>
              </a:rPr>
              <a:t>Use</a:t>
            </a:r>
            <a:r>
              <a:rPr kumimoji="0" lang="el-GR" altLang="el-GR" sz="1800" b="1" i="0" u="none" strike="noStrike" cap="none" normalizeH="0" baseline="0">
                <a:ln>
                  <a:noFill/>
                </a:ln>
                <a:solidFill>
                  <a:schemeClr val="tx1"/>
                </a:solidFill>
                <a:effectLst/>
                <a:latin typeface="Arial" panose="020B0604020202020204" pitchFamily="34" charset="0"/>
              </a:rPr>
              <a:t> </a:t>
            </a:r>
            <a:r>
              <a:rPr kumimoji="0" lang="el-GR" altLang="el-GR" sz="1800" b="1" i="0" u="none" strike="noStrike" cap="none" normalizeH="0" baseline="0" err="1">
                <a:ln>
                  <a:noFill/>
                </a:ln>
                <a:solidFill>
                  <a:schemeClr val="tx1"/>
                </a:solidFill>
                <a:effectLst/>
                <a:latin typeface="Arial" panose="020B0604020202020204" pitchFamily="34" charset="0"/>
              </a:rPr>
              <a:t>Cases</a:t>
            </a:r>
            <a:r>
              <a:rPr kumimoji="0" lang="el-GR" altLang="el-GR" sz="1800" b="1" i="0" u="none" strike="noStrike" cap="none" normalizeH="0" baseline="0">
                <a:ln>
                  <a:noFill/>
                </a:ln>
                <a:solidFill>
                  <a:schemeClr val="tx1"/>
                </a:solidFill>
                <a:effectLst/>
                <a:latin typeface="Arial" panose="020B0604020202020204" pitchFamily="34" charset="0"/>
              </a:rPr>
              <a:t>:</a:t>
            </a:r>
            <a:endParaRPr kumimoji="0" lang="el-GR" altLang="el-GR" sz="1800" b="0" i="0" u="none" strike="noStrike" cap="none" normalizeH="0" baseline="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l-GR" altLang="el-GR" sz="1600" b="0" i="0" u="none" strike="noStrike" cap="none" normalizeH="0" baseline="0">
                <a:ln>
                  <a:noFill/>
                </a:ln>
                <a:solidFill>
                  <a:schemeClr val="tx1"/>
                </a:solidFill>
                <a:effectLst/>
                <a:latin typeface="Arial" panose="020B0604020202020204" pitchFamily="34" charset="0"/>
              </a:rPr>
              <a:t>Real-</a:t>
            </a:r>
            <a:r>
              <a:rPr kumimoji="0" lang="el-GR" altLang="el-GR" sz="1600" b="0" i="0" u="none" strike="noStrike" cap="none" normalizeH="0" baseline="0" err="1">
                <a:ln>
                  <a:noFill/>
                </a:ln>
                <a:solidFill>
                  <a:schemeClr val="tx1"/>
                </a:solidFill>
                <a:effectLst/>
                <a:latin typeface="Arial" panose="020B0604020202020204" pitchFamily="34" charset="0"/>
              </a:rPr>
              <a:t>time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energy</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optimization</a:t>
            </a:r>
            <a:r>
              <a:rPr kumimoji="0" lang="el-GR" altLang="el-GR" sz="1600" b="0" i="0" u="none" strike="noStrike" cap="none" normalizeH="0" baseline="0">
                <a:ln>
                  <a:noFill/>
                </a:ln>
                <a:solidFill>
                  <a:schemeClr val="tx1"/>
                </a:solidFill>
                <a:effectLst/>
                <a:latin typeface="Arial" panose="020B0604020202020204" pitchFamily="34" charset="0"/>
              </a:rPr>
              <a:t> in </a:t>
            </a:r>
            <a:r>
              <a:rPr kumimoji="0" lang="el-GR" altLang="el-GR" sz="1600" b="0" i="0" u="none" strike="noStrike" cap="none" normalizeH="0" baseline="0" err="1">
                <a:ln>
                  <a:noFill/>
                </a:ln>
                <a:solidFill>
                  <a:schemeClr val="tx1"/>
                </a:solidFill>
                <a:effectLst/>
                <a:latin typeface="Arial" panose="020B0604020202020204" pitchFamily="34" charset="0"/>
              </a:rPr>
              <a:t>smart</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homes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using</a:t>
            </a:r>
            <a:r>
              <a:rPr kumimoji="0" lang="el-GR" altLang="el-GR" sz="1600" b="0" i="0" u="none" strike="noStrike" cap="none" normalizeH="0" baseline="0">
                <a:ln>
                  <a:noFill/>
                </a:ln>
                <a:solidFill>
                  <a:schemeClr val="tx1"/>
                </a:solidFill>
                <a:effectLst/>
                <a:latin typeface="Arial" panose="020B0604020202020204" pitchFamily="34" charset="0"/>
              </a:rPr>
              <a:t> GBM/</a:t>
            </a:r>
            <a:r>
              <a:rPr kumimoji="0" lang="el-GR" altLang="el-GR" sz="1600" b="0" i="0" u="none" strike="noStrike" cap="none" normalizeH="0" baseline="0" err="1">
                <a:ln>
                  <a:noFill/>
                </a:ln>
                <a:solidFill>
                  <a:schemeClr val="tx1"/>
                </a:solidFill>
                <a:effectLst/>
                <a:latin typeface="Arial" panose="020B0604020202020204" pitchFamily="34" charset="0"/>
              </a:rPr>
              <a:t>XGBoost</a:t>
            </a:r>
            <a:r>
              <a:rPr kumimoji="0" lang="el-GR" altLang="el-GR" sz="1600" b="0" i="0" u="none" strike="noStrike" cap="none" normalizeH="0" baseline="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ClrTx/>
              <a:buSzTx/>
              <a:buFontTx/>
              <a:buChar char="•"/>
            </a:pPr>
            <a:r>
              <a:rPr kumimoji="0" lang="el-GR" altLang="el-GR" sz="1600" b="0" i="0" u="none" strike="noStrike" cap="none" normalizeH="0" baseline="0" err="1">
                <a:ln>
                  <a:noFill/>
                </a:ln>
                <a:solidFill>
                  <a:schemeClr val="tx1"/>
                </a:solidFill>
                <a:effectLst/>
                <a:latin typeface="Arial" panose="020B0604020202020204" pitchFamily="34" charset="0"/>
              </a:rPr>
              <a:t>Deep</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learning</a:t>
            </a:r>
            <a:r>
              <a:rPr kumimoji="0" lang="el-GR" altLang="el-GR" sz="1600" b="0" i="0" u="none" strike="noStrike" cap="none" normalizeH="0" baseline="0">
                <a:ln>
                  <a:noFill/>
                </a:ln>
                <a:solidFill>
                  <a:schemeClr val="tx1"/>
                </a:solidFill>
                <a:effectLst/>
                <a:latin typeface="Arial" panose="020B0604020202020204" pitchFamily="34" charset="0"/>
              </a:rPr>
              <a:t> for </a:t>
            </a:r>
            <a:r>
              <a:rPr kumimoji="0" lang="el-GR" altLang="el-GR" sz="1600" b="0" i="0" u="none" strike="noStrike" cap="none" normalizeH="0" baseline="0" err="1">
                <a:ln>
                  <a:noFill/>
                </a:ln>
                <a:solidFill>
                  <a:schemeClr val="tx1"/>
                </a:solidFill>
                <a:effectLst/>
                <a:latin typeface="Arial" panose="020B0604020202020204" pitchFamily="34" charset="0"/>
              </a:rPr>
              <a:t>future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large-scale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high-dimensional</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datasets</a:t>
            </a:r>
            <a:r>
              <a:rPr kumimoji="0" lang="el-GR" altLang="el-GR" sz="1600" b="0" i="0" u="none" strike="noStrike" cap="none" normalizeH="0" baseline="0">
                <a:ln>
                  <a:noFill/>
                </a:ln>
                <a:solidFill>
                  <a:schemeClr val="tx1"/>
                </a:solidFill>
                <a:effectLst/>
                <a:latin typeface="Arial" panose="020B0604020202020204" pitchFamily="34" charset="0"/>
              </a:rPr>
              <a:t>.</a:t>
            </a:r>
            <a:endParaRPr kumimoji="0" lang="en-US" altLang="el-G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l-GR" altLang="el-GR"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l-GR" altLang="el-GR" sz="1800" b="1" i="0" u="none" strike="noStrike" cap="none" normalizeH="0" baseline="0" err="1">
                <a:ln>
                  <a:noFill/>
                </a:ln>
                <a:solidFill>
                  <a:schemeClr val="tx1"/>
                </a:solidFill>
                <a:effectLst/>
                <a:latin typeface="Arial" panose="020B0604020202020204" pitchFamily="34" charset="0"/>
              </a:rPr>
              <a:t>Future</a:t>
            </a:r>
            <a:r>
              <a:rPr kumimoji="0" lang="el-GR" altLang="el-GR" sz="1800" b="1" i="0" u="none" strike="noStrike" cap="none" normalizeH="0" baseline="0">
                <a:ln>
                  <a:noFill/>
                </a:ln>
                <a:solidFill>
                  <a:schemeClr val="tx1"/>
                </a:solidFill>
                <a:effectLst/>
                <a:latin typeface="Arial" panose="020B0604020202020204" pitchFamily="34" charset="0"/>
              </a:rPr>
              <a:t> </a:t>
            </a:r>
            <a:r>
              <a:rPr kumimoji="0" lang="el-GR" altLang="el-GR" sz="1800" b="1" i="0" u="none" strike="noStrike" cap="none" normalizeH="0" baseline="0" err="1">
                <a:ln>
                  <a:noFill/>
                </a:ln>
                <a:solidFill>
                  <a:schemeClr val="tx1"/>
                </a:solidFill>
                <a:effectLst/>
                <a:latin typeface="Arial" panose="020B0604020202020204" pitchFamily="34" charset="0"/>
              </a:rPr>
              <a:t>Work</a:t>
            </a:r>
            <a:r>
              <a:rPr kumimoji="0" lang="el-GR" altLang="el-GR" sz="1800" b="1" i="0" u="none" strike="noStrike" cap="none" normalizeH="0" baseline="0">
                <a:ln>
                  <a:noFill/>
                </a:ln>
                <a:solidFill>
                  <a:schemeClr val="tx1"/>
                </a:solidFill>
                <a:effectLst/>
                <a:latin typeface="Arial" panose="020B0604020202020204" pitchFamily="34" charset="0"/>
              </a:rPr>
              <a:t>:</a:t>
            </a:r>
            <a:endParaRPr kumimoji="0" lang="el-GR" altLang="el-GR" sz="1800" b="0" i="0" u="none" strike="noStrike" cap="none" normalizeH="0" baseline="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l-GR" altLang="el-GR" sz="1600" b="0" i="0" u="none" strike="noStrike" cap="none" normalizeH="0" baseline="0" err="1">
                <a:ln>
                  <a:noFill/>
                </a:ln>
                <a:solidFill>
                  <a:schemeClr val="tx1"/>
                </a:solidFill>
                <a:effectLst/>
                <a:latin typeface="Arial" panose="020B0604020202020204" pitchFamily="34" charset="0"/>
              </a:rPr>
              <a:t>Explore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hybrid</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models</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e.g</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combining</a:t>
            </a:r>
            <a:r>
              <a:rPr kumimoji="0" lang="el-GR" altLang="el-GR" sz="1600" b="0" i="0" u="none" strike="noStrike" cap="none" normalizeH="0" baseline="0">
                <a:ln>
                  <a:noFill/>
                </a:ln>
                <a:solidFill>
                  <a:schemeClr val="tx1"/>
                </a:solidFill>
                <a:effectLst/>
                <a:latin typeface="Arial" panose="020B0604020202020204" pitchFamily="34" charset="0"/>
              </a:rPr>
              <a:t> GBM </a:t>
            </a:r>
            <a:r>
              <a:rPr kumimoji="0" lang="el-GR" altLang="el-GR" sz="1600" b="0" i="0" u="none" strike="noStrike" cap="none" normalizeH="0" baseline="0" err="1">
                <a:ln>
                  <a:noFill/>
                </a:ln>
                <a:solidFill>
                  <a:schemeClr val="tx1"/>
                </a:solidFill>
                <a:effectLst/>
                <a:latin typeface="Arial" panose="020B0604020202020204" pitchFamily="34" charset="0"/>
              </a:rPr>
              <a:t>with</a:t>
            </a:r>
            <a:r>
              <a:rPr kumimoji="0" lang="el-GR" altLang="el-GR" sz="1600" b="0" i="0" u="none" strike="noStrike" cap="none" normalizeH="0" baseline="0">
                <a:ln>
                  <a:noFill/>
                </a:ln>
                <a:solidFill>
                  <a:schemeClr val="tx1"/>
                </a:solidFill>
                <a:effectLst/>
                <a:latin typeface="Arial" panose="020B0604020202020204" pitchFamily="34" charset="0"/>
              </a:rPr>
              <a:t> LSTM).</a:t>
            </a:r>
          </a:p>
          <a:p>
            <a:pPr marL="457200" lvl="1" indent="0" eaLnBrk="0" fontAlgn="base" hangingPunct="0">
              <a:lnSpc>
                <a:spcPct val="100000"/>
              </a:lnSpc>
              <a:spcBef>
                <a:spcPct val="0"/>
              </a:spcBef>
              <a:spcAft>
                <a:spcPct val="0"/>
              </a:spcAft>
              <a:buClrTx/>
              <a:buSzTx/>
              <a:buFontTx/>
              <a:buChar char="•"/>
            </a:pPr>
            <a:r>
              <a:rPr kumimoji="0" lang="el-GR" altLang="el-GR" sz="1600" b="0" i="0" u="none" strike="noStrike" cap="none" normalizeH="0" baseline="0" err="1">
                <a:ln>
                  <a:noFill/>
                </a:ln>
                <a:solidFill>
                  <a:schemeClr val="tx1"/>
                </a:solidFill>
                <a:effectLst/>
                <a:latin typeface="Arial" panose="020B0604020202020204" pitchFamily="34" charset="0"/>
              </a:rPr>
              <a:t>Deploy</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models</a:t>
            </a:r>
            <a:r>
              <a:rPr kumimoji="0" lang="el-GR" altLang="el-GR" sz="1600" b="0" i="0" u="none" strike="noStrike" cap="none" normalizeH="0" baseline="0">
                <a:ln>
                  <a:noFill/>
                </a:ln>
                <a:solidFill>
                  <a:schemeClr val="tx1"/>
                </a:solidFill>
                <a:effectLst/>
                <a:latin typeface="Arial" panose="020B0604020202020204" pitchFamily="34" charset="0"/>
              </a:rPr>
              <a:t> in </a:t>
            </a:r>
            <a:r>
              <a:rPr kumimoji="0" lang="el-GR" altLang="el-GR" sz="1600" b="0" i="0" u="none" strike="noStrike" cap="none" normalizeH="0" baseline="0" err="1">
                <a:ln>
                  <a:noFill/>
                </a:ln>
                <a:solidFill>
                  <a:schemeClr val="tx1"/>
                </a:solidFill>
                <a:effectLst/>
                <a:latin typeface="Arial" panose="020B0604020202020204" pitchFamily="34" charset="0"/>
              </a:rPr>
              <a:t>real-world</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settings</a:t>
            </a:r>
            <a:r>
              <a:rPr kumimoji="0" lang="el-GR" altLang="el-GR" sz="1600" b="0" i="0" u="none" strike="noStrike" cap="none" normalizeH="0" baseline="0">
                <a:ln>
                  <a:noFill/>
                </a:ln>
                <a:solidFill>
                  <a:schemeClr val="tx1"/>
                </a:solidFill>
                <a:effectLst/>
                <a:latin typeface="Arial" panose="020B0604020202020204" pitchFamily="34" charset="0"/>
              </a:rPr>
              <a:t> and </a:t>
            </a:r>
            <a:r>
              <a:rPr kumimoji="0" lang="el-GR" altLang="el-GR" sz="1600" b="0" i="0" u="none" strike="noStrike" cap="none" normalizeH="0" baseline="0" err="1">
                <a:ln>
                  <a:noFill/>
                </a:ln>
                <a:solidFill>
                  <a:schemeClr val="tx1"/>
                </a:solidFill>
                <a:effectLst/>
                <a:latin typeface="Arial" panose="020B0604020202020204" pitchFamily="34" charset="0"/>
              </a:rPr>
              <a:t>monitor</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performance</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over</a:t>
            </a:r>
            <a:r>
              <a:rPr kumimoji="0" lang="el-GR" altLang="el-GR" sz="1600" b="0" i="0" u="none" strike="noStrike" cap="none" normalizeH="0" baseline="0">
                <a:ln>
                  <a:noFill/>
                </a:ln>
                <a:solidFill>
                  <a:schemeClr val="tx1"/>
                </a:solidFill>
                <a:effectLst/>
                <a:latin typeface="Arial" panose="020B0604020202020204" pitchFamily="34" charset="0"/>
              </a:rPr>
              <a:t> </a:t>
            </a:r>
            <a:r>
              <a:rPr kumimoji="0" lang="el-GR" altLang="el-GR" sz="1600" b="0" i="0" u="none" strike="noStrike" cap="none" normalizeH="0" baseline="0" err="1">
                <a:ln>
                  <a:noFill/>
                </a:ln>
                <a:solidFill>
                  <a:schemeClr val="tx1"/>
                </a:solidFill>
                <a:effectLst/>
                <a:latin typeface="Arial" panose="020B0604020202020204" pitchFamily="34" charset="0"/>
              </a:rPr>
              <a:t>time</a:t>
            </a:r>
            <a:r>
              <a:rPr kumimoji="0" lang="el-GR" altLang="el-GR" sz="1600" b="0" i="0" u="none" strike="noStrike" cap="none" normalizeH="0" baseline="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ClrTx/>
              <a:buSzTx/>
              <a:buNone/>
            </a:pPr>
            <a:endParaRPr kumimoji="0" lang="el-GR" altLang="el-G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3539693"/>
      </p:ext>
    </p:extLst>
  </p:cSld>
  <p:clrMapOvr>
    <a:masterClrMapping/>
  </p:clrMapOvr>
</p:sld>
</file>

<file path=ppt/theme/theme1.xml><?xml version="1.0" encoding="utf-8"?>
<a:theme xmlns:a="http://schemas.openxmlformats.org/drawingml/2006/main" name="Συλλογη">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Έγγραφο" ma:contentTypeID="0x010100BD5A2F594E031E44BC0495665D9667FB" ma:contentTypeVersion="9" ma:contentTypeDescription="Δημιουργία νέου εγγράφου" ma:contentTypeScope="" ma:versionID="6e511c5141cea907ef52b9ae568df91d">
  <xsd:schema xmlns:xsd="http://www.w3.org/2001/XMLSchema" xmlns:xs="http://www.w3.org/2001/XMLSchema" xmlns:p="http://schemas.microsoft.com/office/2006/metadata/properties" xmlns:ns3="853c0b7b-ce5c-41c8-a2ba-2c6a300935b2" xmlns:ns4="af636b77-fa94-440a-a735-658da983ec3d" targetNamespace="http://schemas.microsoft.com/office/2006/metadata/properties" ma:root="true" ma:fieldsID="83a298ed5dfbef394e94ed6204a275d0" ns3:_="" ns4:_="">
    <xsd:import namespace="853c0b7b-ce5c-41c8-a2ba-2c6a300935b2"/>
    <xsd:import namespace="af636b77-fa94-440a-a735-658da983ec3d"/>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3c0b7b-ce5c-41c8-a2ba-2c6a300935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f636b77-fa94-440a-a735-658da983ec3d" elementFormDefault="qualified">
    <xsd:import namespace="http://schemas.microsoft.com/office/2006/documentManagement/types"/>
    <xsd:import namespace="http://schemas.microsoft.com/office/infopath/2007/PartnerControls"/>
    <xsd:element name="SharedWithUsers" ma:index="13" nillable="true" ma:displayName="Κοινή χρήση με"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Κοινή χρήση με λεπτομέρειες" ma:internalName="SharedWithDetails" ma:readOnly="true">
      <xsd:simpleType>
        <xsd:restriction base="dms:Note">
          <xsd:maxLength value="255"/>
        </xsd:restriction>
      </xsd:simpleType>
    </xsd:element>
    <xsd:element name="SharingHintHash" ma:index="15" nillable="true" ma:displayName="Κοινή χρήση κατακερματισμού υπόδειξης"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Τύπος περιεχομένου"/>
        <xsd:element ref="dc:title" minOccurs="0" maxOccurs="1" ma:index="4" ma:displayName="Τίτλο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853c0b7b-ce5c-41c8-a2ba-2c6a300935b2" xsi:nil="true"/>
  </documentManagement>
</p:properties>
</file>

<file path=customXml/itemProps1.xml><?xml version="1.0" encoding="utf-8"?>
<ds:datastoreItem xmlns:ds="http://schemas.openxmlformats.org/officeDocument/2006/customXml" ds:itemID="{3D233288-9C86-416C-B404-5BCFA6988569}">
  <ds:schemaRefs>
    <ds:schemaRef ds:uri="http://schemas.microsoft.com/sharepoint/v3/contenttype/forms"/>
  </ds:schemaRefs>
</ds:datastoreItem>
</file>

<file path=customXml/itemProps2.xml><?xml version="1.0" encoding="utf-8"?>
<ds:datastoreItem xmlns:ds="http://schemas.openxmlformats.org/officeDocument/2006/customXml" ds:itemID="{4A8144A4-8B5C-4C31-9D80-04F46CE037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3c0b7b-ce5c-41c8-a2ba-2c6a300935b2"/>
    <ds:schemaRef ds:uri="af636b77-fa94-440a-a735-658da983ec3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3421A4A-3B76-4829-8585-BD4B6BD4E906}">
  <ds:schemaRefs>
    <ds:schemaRef ds:uri="http://www.w3.org/XML/1998/namespace"/>
    <ds:schemaRef ds:uri="http://purl.org/dc/elements/1.1/"/>
    <ds:schemaRef ds:uri="853c0b7b-ce5c-41c8-a2ba-2c6a300935b2"/>
    <ds:schemaRef ds:uri="http://schemas.microsoft.com/office/2006/documentManagement/types"/>
    <ds:schemaRef ds:uri="http://schemas.microsoft.com/office/infopath/2007/PartnerControls"/>
    <ds:schemaRef ds:uri="http://purl.org/dc/dcmitype/"/>
    <ds:schemaRef ds:uri="http://purl.org/dc/terms/"/>
    <ds:schemaRef ds:uri="http://schemas.openxmlformats.org/package/2006/metadata/core-properties"/>
    <ds:schemaRef ds:uri="af636b77-fa94-440a-a735-658da983ec3d"/>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163</TotalTime>
  <Words>901</Words>
  <Application>Microsoft Office PowerPoint</Application>
  <PresentationFormat>Ευρεία οθόνη</PresentationFormat>
  <Paragraphs>205</Paragraphs>
  <Slides>16</Slides>
  <Notes>1</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16</vt:i4>
      </vt:variant>
    </vt:vector>
  </HeadingPairs>
  <TitlesOfParts>
    <vt:vector size="21" baseType="lpstr">
      <vt:lpstr>Aptos</vt:lpstr>
      <vt:lpstr>Arial</vt:lpstr>
      <vt:lpstr>Gill Sans MT</vt:lpstr>
      <vt:lpstr>Tahoma</vt:lpstr>
      <vt:lpstr>Συλλογη</vt:lpstr>
      <vt:lpstr>Time Series Forecasting: Final Project PRESENTATION</vt:lpstr>
      <vt:lpstr>Project introduction</vt:lpstr>
      <vt:lpstr>PROJECT OBJECTIVES</vt:lpstr>
      <vt:lpstr>dATA PREPROCESSing</vt:lpstr>
      <vt:lpstr>MODELS IMPlEMENTED</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in-depth  visual model comparison</vt:lpstr>
      <vt:lpstr>Παρουσίαση του PowerPoint</vt:lpstr>
      <vt:lpstr>Overfitting and Computational Efficiency</vt:lpstr>
      <vt:lpstr>Recommendations for Improvement</vt:lpstr>
      <vt:lpstr>Conclusion and Practical Implications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ZERDALIS CHRISTODOULOS</dc:creator>
  <cp:lastModifiedBy>ORGANTZOGLOU EVANGELOS</cp:lastModifiedBy>
  <cp:revision>8</cp:revision>
  <dcterms:created xsi:type="dcterms:W3CDTF">2025-01-13T15:25:21Z</dcterms:created>
  <dcterms:modified xsi:type="dcterms:W3CDTF">2025-01-14T17:51:04Z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0x010100BD5A2F594E031E44BC0495665D9667FB</vt:lpwstr>
  </property>
</Properties>
</file>